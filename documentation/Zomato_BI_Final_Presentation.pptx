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12192000"/>
  <p:embeddedFontLst>
    <p:embeddedFont>
      <p:font typeface="Public Sans"/>
      <p:regular r:id="rId19"/>
      <p:bold r:id="rId20"/>
      <p:italic r:id="rId21"/>
      <p:boldItalic r:id="rId22"/>
    </p:embeddedFont>
    <p:embeddedFont>
      <p:font typeface="Rubik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9B7608F-611E-48DE-8039-6A201CF00292}">
  <a:tblStyle styleId="{A9B7608F-611E-48DE-8039-6A201CF0029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ublicSans-bold.fntdata"/><Relationship Id="rId22" Type="http://schemas.openxmlformats.org/officeDocument/2006/relationships/font" Target="fonts/PublicSans-boldItalic.fntdata"/><Relationship Id="rId21" Type="http://schemas.openxmlformats.org/officeDocument/2006/relationships/font" Target="fonts/PublicSans-italic.fntdata"/><Relationship Id="rId24" Type="http://schemas.openxmlformats.org/officeDocument/2006/relationships/font" Target="fonts/Rubik-bold.fntdata"/><Relationship Id="rId23" Type="http://schemas.openxmlformats.org/officeDocument/2006/relationships/font" Target="fonts/Rubik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ubik-boldItalic.fntdata"/><Relationship Id="rId25" Type="http://schemas.openxmlformats.org/officeDocument/2006/relationships/font" Target="fonts/Rubik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PublicSans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A252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E043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812800" y="812800"/>
            <a:ext cx="10883392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838B"/>
              </a:buClr>
              <a:buSzPts val="1600"/>
              <a:buFont typeface="Public Sans"/>
              <a:buNone/>
            </a:pPr>
            <a:r>
              <a:rPr b="1" i="0" lang="en-US" sz="1600" u="none" cap="none" strike="noStrike">
                <a:solidFill>
                  <a:srgbClr val="F0838B"/>
                </a:solidFill>
                <a:latin typeface="Public Sans"/>
                <a:ea typeface="Public Sans"/>
                <a:cs typeface="Public Sans"/>
                <a:sym typeface="Public Sans"/>
              </a:rPr>
              <a:t>ZOMATO BI &amp; DELIVERY ANALYTICS · FINAL READOUT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812800" y="1710730"/>
            <a:ext cx="9810750" cy="24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6F1EC"/>
              </a:buClr>
              <a:buSzPts val="6000"/>
              <a:buFont typeface="Rubik"/>
              <a:buNone/>
            </a:pPr>
            <a:r>
              <a:rPr b="1" i="0" lang="en-US" sz="6000" u="none" cap="none" strike="noStrike">
                <a:solidFill>
                  <a:srgbClr val="F6F1EC"/>
                </a:solidFill>
                <a:latin typeface="Rubik"/>
                <a:ea typeface="Rubik"/>
                <a:cs typeface="Rubik"/>
                <a:sym typeface="Rubik"/>
              </a:rPr>
              <a:t>One in three orders never reaches the customer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812800" y="4365030"/>
            <a:ext cx="9156700" cy="807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9CFC6"/>
              </a:buClr>
              <a:buSzPts val="2200"/>
              <a:buFont typeface="Public Sans"/>
              <a:buNone/>
            </a:pPr>
            <a:r>
              <a:rPr b="0" i="0" lang="en-US" sz="2200" u="none" cap="none" strike="noStrike">
                <a:solidFill>
                  <a:srgbClr val="D9CFC6"/>
                </a:solidFill>
                <a:latin typeface="Public Sans"/>
                <a:ea typeface="Public Sans"/>
                <a:cs typeface="Public Sans"/>
                <a:sym typeface="Public Sans"/>
              </a:rPr>
              <a:t>What two years of order data says about failures, restaurants, delivery and retention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812800" y="5760740"/>
            <a:ext cx="10883392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9CFC6"/>
              </a:buClr>
              <a:buSzPts val="1600"/>
              <a:buFont typeface="Public Sans"/>
              <a:buNone/>
            </a:pPr>
            <a:r>
              <a:rPr lang="en-US" sz="1600">
                <a:solidFill>
                  <a:srgbClr val="D9CFC6"/>
                </a:solidFill>
                <a:latin typeface="Public Sans"/>
                <a:ea typeface="Public Sans"/>
                <a:cs typeface="Public Sans"/>
                <a:sym typeface="Public Sans"/>
              </a:rPr>
              <a:t>Priyanka Vasavada</a:t>
            </a:r>
            <a:r>
              <a:rPr b="0" i="0" lang="en-US" sz="1600" u="none" cap="none" strike="noStrike">
                <a:solidFill>
                  <a:srgbClr val="D9CFC6"/>
                </a:solidFill>
                <a:latin typeface="Public Sans"/>
                <a:ea typeface="Public Sans"/>
                <a:cs typeface="Public Sans"/>
                <a:sym typeface="Public Sans"/>
              </a:rPr>
              <a:t>· Internmo internship · October 2026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8F5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812800" y="812800"/>
            <a:ext cx="10883392" cy="52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A2522"/>
              </a:buClr>
              <a:buSzPts val="3600"/>
              <a:buFont typeface="Rubik"/>
              <a:buNone/>
            </a:pPr>
            <a:r>
              <a:rPr b="1" i="0" lang="en-US" sz="3600" u="none" cap="none" strike="noStrike">
                <a:solidFill>
                  <a:srgbClr val="2A2522"/>
                </a:solidFill>
                <a:latin typeface="Rubik"/>
                <a:ea typeface="Rubik"/>
                <a:cs typeface="Rubik"/>
                <a:sym typeface="Rubik"/>
              </a:rPr>
              <a:t>At a glance: Jan 2023 – Dec 2024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812800" y="1722090"/>
            <a:ext cx="2489200" cy="2103041"/>
          </a:xfrm>
          <a:prstGeom prst="roundRect">
            <a:avLst>
              <a:gd fmla="val 4831" name="adj"/>
            </a:avLst>
          </a:prstGeom>
          <a:solidFill>
            <a:srgbClr val="F1EA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1066800" y="1976090"/>
            <a:ext cx="2040636" cy="665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A2522"/>
              </a:buClr>
              <a:buSzPts val="3600"/>
              <a:buFont typeface="Rubik"/>
              <a:buNone/>
            </a:pPr>
            <a:r>
              <a:rPr b="1" i="0" lang="en-US" sz="3600" u="none" cap="none" strike="noStrike">
                <a:solidFill>
                  <a:srgbClr val="2A2522"/>
                </a:solidFill>
                <a:latin typeface="Rubik"/>
                <a:ea typeface="Rubik"/>
                <a:cs typeface="Rubik"/>
                <a:sym typeface="Rubik"/>
              </a:rPr>
              <a:t>₹53.1L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1066800" y="2717750"/>
            <a:ext cx="2040636" cy="59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524B"/>
              </a:buClr>
              <a:buSzPts val="1600"/>
              <a:buFont typeface="Public Sans"/>
              <a:buNone/>
            </a:pPr>
            <a:r>
              <a:rPr b="0" i="0" lang="en-US" sz="1600" u="none" cap="none" strike="noStrike">
                <a:solidFill>
                  <a:srgbClr val="5C524B"/>
                </a:solidFill>
                <a:latin typeface="Public Sans"/>
                <a:ea typeface="Public Sans"/>
                <a:cs typeface="Public Sans"/>
                <a:sym typeface="Public Sans"/>
              </a:rPr>
              <a:t>revenue from 13,544 delivered orders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3505200" y="1722090"/>
            <a:ext cx="2489200" cy="2103041"/>
          </a:xfrm>
          <a:prstGeom prst="roundRect">
            <a:avLst>
              <a:gd fmla="val 4831" name="adj"/>
            </a:avLst>
          </a:prstGeom>
          <a:solidFill>
            <a:srgbClr val="CB20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3759200" y="1976090"/>
            <a:ext cx="2040636" cy="665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BF8F5"/>
              </a:buClr>
              <a:buSzPts val="3600"/>
              <a:buFont typeface="Rubik"/>
              <a:buNone/>
            </a:pPr>
            <a:r>
              <a:rPr b="1" i="0" lang="en-US" sz="3600" u="none" cap="none" strike="noStrike">
                <a:solidFill>
                  <a:srgbClr val="FBF8F5"/>
                </a:solidFill>
                <a:latin typeface="Rubik"/>
                <a:ea typeface="Rubik"/>
                <a:cs typeface="Rubik"/>
                <a:sym typeface="Rubik"/>
              </a:rPr>
              <a:t>₹27.1L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3759200" y="2717750"/>
            <a:ext cx="2040636" cy="59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BF8F5"/>
              </a:buClr>
              <a:buSzPts val="1600"/>
              <a:buFont typeface="Public Sans"/>
              <a:buNone/>
            </a:pPr>
            <a:r>
              <a:rPr b="0" i="0" lang="en-US" sz="1600" u="none" cap="none" strike="noStrike">
                <a:solidFill>
                  <a:srgbClr val="FBF8F5"/>
                </a:solidFill>
                <a:latin typeface="Public Sans"/>
                <a:ea typeface="Public Sans"/>
                <a:cs typeface="Public Sans"/>
                <a:sym typeface="Public Sans"/>
              </a:rPr>
              <a:t>lost to cancelled and undelivered orders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6197600" y="1722090"/>
            <a:ext cx="2489200" cy="2103041"/>
          </a:xfrm>
          <a:prstGeom prst="roundRect">
            <a:avLst>
              <a:gd fmla="val 4831" name="adj"/>
            </a:avLst>
          </a:prstGeom>
          <a:solidFill>
            <a:srgbClr val="F1EA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6451600" y="1976090"/>
            <a:ext cx="2040636" cy="665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A2522"/>
              </a:buClr>
              <a:buSzPts val="3600"/>
              <a:buFont typeface="Rubik"/>
              <a:buNone/>
            </a:pPr>
            <a:r>
              <a:rPr b="1" i="0" lang="en-US" sz="3600" u="none" cap="none" strike="noStrike">
                <a:solidFill>
                  <a:srgbClr val="2A2522"/>
                </a:solidFill>
                <a:latin typeface="Rubik"/>
                <a:ea typeface="Rubik"/>
                <a:cs typeface="Rubik"/>
                <a:sym typeface="Rubik"/>
              </a:rPr>
              <a:t>33.9%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6451600" y="2717750"/>
            <a:ext cx="2040636" cy="59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524B"/>
              </a:buClr>
              <a:buSzPts val="1600"/>
              <a:buFont typeface="Public Sans"/>
              <a:buNone/>
            </a:pPr>
            <a:r>
              <a:rPr b="0" i="0" lang="en-US" sz="1600" u="none" cap="none" strike="noStrike">
                <a:solidFill>
                  <a:srgbClr val="5C524B"/>
                </a:solidFill>
                <a:latin typeface="Public Sans"/>
                <a:ea typeface="Public Sans"/>
                <a:cs typeface="Public Sans"/>
                <a:sym typeface="Public Sans"/>
              </a:rPr>
              <a:t>of all 20,475 orders failed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8890000" y="1722090"/>
            <a:ext cx="2489200" cy="2103041"/>
          </a:xfrm>
          <a:prstGeom prst="roundRect">
            <a:avLst>
              <a:gd fmla="val 4831" name="adj"/>
            </a:avLst>
          </a:prstGeom>
          <a:solidFill>
            <a:srgbClr val="F1EA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9144000" y="1976090"/>
            <a:ext cx="2040636" cy="665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A2522"/>
              </a:buClr>
              <a:buSzPts val="3600"/>
              <a:buFont typeface="Rubik"/>
              <a:buNone/>
            </a:pPr>
            <a:r>
              <a:rPr b="1" i="0" lang="en-US" sz="3600" u="none" cap="none" strike="noStrike">
                <a:solidFill>
                  <a:srgbClr val="2A2522"/>
                </a:solidFill>
                <a:latin typeface="Rubik"/>
                <a:ea typeface="Rubik"/>
                <a:cs typeface="Rubik"/>
                <a:sym typeface="Rubik"/>
              </a:rPr>
              <a:t>38%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9144000" y="2717750"/>
            <a:ext cx="2040636" cy="878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524B"/>
              </a:buClr>
              <a:buSzPts val="1600"/>
              <a:buFont typeface="Public Sans"/>
              <a:buNone/>
            </a:pPr>
            <a:r>
              <a:rPr b="0" i="0" lang="en-US" sz="1600" u="none" cap="none" strike="noStrike">
                <a:solidFill>
                  <a:srgbClr val="5C524B"/>
                </a:solidFill>
                <a:latin typeface="Public Sans"/>
                <a:ea typeface="Public Sans"/>
                <a:cs typeface="Public Sans"/>
                <a:sym typeface="Public Sans"/>
              </a:rPr>
              <a:t>of customers never ordered a second time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812800" y="4231531"/>
            <a:ext cx="9810750" cy="751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A2522"/>
              </a:buClr>
              <a:buSzPts val="2200"/>
              <a:buFont typeface="Public Sans"/>
              <a:buNone/>
            </a:pPr>
            <a:r>
              <a:rPr b="0" i="0" lang="en-US" sz="2200" u="none" cap="none" strike="noStrike">
                <a:solidFill>
                  <a:srgbClr val="2A2522"/>
                </a:solidFill>
                <a:latin typeface="Public Sans"/>
                <a:ea typeface="Public Sans"/>
                <a:cs typeface="Public Sans"/>
                <a:sym typeface="Public Sans"/>
              </a:rPr>
              <a:t>The biggest lever isn’t growth. It’s the orders the platform already gets and then loses.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812800" y="6238280"/>
            <a:ext cx="4053721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6E66"/>
              </a:buClr>
              <a:buSzPts val="1200"/>
              <a:buFont typeface="Public Sans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EAE3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/>
          <p:nvPr/>
        </p:nvSpPr>
        <p:spPr>
          <a:xfrm>
            <a:off x="812800" y="812800"/>
            <a:ext cx="10883392" cy="52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A2522"/>
              </a:buClr>
              <a:buSzPts val="3600"/>
              <a:buFont typeface="Rubik"/>
              <a:buNone/>
            </a:pPr>
            <a:r>
              <a:rPr b="1" i="0" lang="en-US" sz="3600" u="none" cap="none" strike="noStrike">
                <a:solidFill>
                  <a:srgbClr val="2A2522"/>
                </a:solidFill>
                <a:latin typeface="Rubik"/>
                <a:ea typeface="Rubik"/>
                <a:cs typeface="Rubik"/>
                <a:sym typeface="Rubik"/>
              </a:rPr>
              <a:t>How the data was prepared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819150" y="2063651"/>
            <a:ext cx="1734790" cy="876250"/>
          </a:xfrm>
          <a:prstGeom prst="roundRect">
            <a:avLst>
              <a:gd fmla="val 10870" name="adj"/>
            </a:avLst>
          </a:prstGeom>
          <a:solidFill>
            <a:srgbClr val="FBF8F5"/>
          </a:solidFill>
          <a:ln cap="flat" cmpd="sng" w="12700">
            <a:solidFill>
              <a:srgbClr val="D9CF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/>
          <p:cNvSpPr/>
          <p:nvPr/>
        </p:nvSpPr>
        <p:spPr>
          <a:xfrm>
            <a:off x="1028700" y="2273201"/>
            <a:ext cx="1366490" cy="26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A2522"/>
              </a:buClr>
              <a:buSzPts val="1600"/>
              <a:buFont typeface="Public Sans"/>
              <a:buNone/>
            </a:pPr>
            <a:r>
              <a:rPr b="1" i="0" lang="en-US" sz="1600" u="none" cap="none" strike="noStrike">
                <a:solidFill>
                  <a:srgbClr val="2A2522"/>
                </a:solidFill>
                <a:latin typeface="Public Sans"/>
                <a:ea typeface="Public Sans"/>
                <a:cs typeface="Public Sans"/>
                <a:sym typeface="Public Sans"/>
              </a:rPr>
              <a:t>12 raw CSVs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1028700" y="2517031"/>
            <a:ext cx="136649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524B"/>
              </a:buClr>
              <a:buSzPts val="1200"/>
              <a:buFont typeface="Public Sans"/>
              <a:buNone/>
            </a:pPr>
            <a:r>
              <a:rPr b="0" i="0" lang="en-US" sz="1200" u="none" cap="none" strike="noStrike">
                <a:solidFill>
                  <a:srgbClr val="5C524B"/>
                </a:solidFill>
                <a:latin typeface="Public Sans"/>
                <a:ea typeface="Public Sans"/>
                <a:cs typeface="Public Sans"/>
                <a:sym typeface="Public Sans"/>
              </a:rPr>
              <a:t>178,077 rows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aperPlane" id="50" name="Google Shape;5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1890" y="2374801"/>
            <a:ext cx="254000" cy="2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5"/>
          <p:cNvSpPr/>
          <p:nvPr/>
        </p:nvSpPr>
        <p:spPr>
          <a:xfrm>
            <a:off x="3023840" y="1728440"/>
            <a:ext cx="1734840" cy="1546721"/>
          </a:xfrm>
          <a:prstGeom prst="roundRect">
            <a:avLst>
              <a:gd fmla="val 6158" name="adj"/>
            </a:avLst>
          </a:prstGeom>
          <a:solidFill>
            <a:srgbClr val="FBF8F5"/>
          </a:solidFill>
          <a:ln cap="flat" cmpd="sng" w="12700">
            <a:solidFill>
              <a:srgbClr val="D9CF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3233390" y="1937990"/>
            <a:ext cx="1366540" cy="513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A2522"/>
              </a:buClr>
              <a:buSzPts val="1600"/>
              <a:buFont typeface="Public Sans"/>
              <a:buNone/>
            </a:pPr>
            <a:r>
              <a:rPr b="1" i="0" lang="en-US" sz="1600" u="none" cap="none" strike="noStrike">
                <a:solidFill>
                  <a:srgbClr val="2A2522"/>
                </a:solidFill>
                <a:latin typeface="Public Sans"/>
                <a:ea typeface="Public Sans"/>
                <a:cs typeface="Public Sans"/>
                <a:sym typeface="Public Sans"/>
              </a:rPr>
              <a:t>Python cleaning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3233390" y="2425650"/>
            <a:ext cx="1366540" cy="6653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524B"/>
              </a:buClr>
              <a:buSzPts val="1200"/>
              <a:buFont typeface="Public Sans"/>
              <a:buNone/>
            </a:pPr>
            <a:r>
              <a:rPr b="0" i="0" lang="en-US" sz="1200" u="none" cap="none" strike="noStrike">
                <a:solidFill>
                  <a:srgbClr val="5C524B"/>
                </a:solidFill>
                <a:latin typeface="Public Sans"/>
                <a:ea typeface="Public Sans"/>
                <a:cs typeface="Public Sans"/>
                <a:sym typeface="Public Sans"/>
              </a:rPr>
              <a:t>dedup, key checks, imputation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aperPlane" id="54" name="Google Shape;5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66630" y="2374801"/>
            <a:ext cx="254000" cy="2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5"/>
          <p:cNvSpPr/>
          <p:nvPr/>
        </p:nvSpPr>
        <p:spPr>
          <a:xfrm>
            <a:off x="5228580" y="1956991"/>
            <a:ext cx="1734790" cy="1089571"/>
          </a:xfrm>
          <a:prstGeom prst="roundRect">
            <a:avLst>
              <a:gd fmla="val 8742" name="adj"/>
            </a:avLst>
          </a:prstGeom>
          <a:solidFill>
            <a:srgbClr val="FBF8F5"/>
          </a:solidFill>
          <a:ln cap="flat" cmpd="sng" w="12700">
            <a:solidFill>
              <a:srgbClr val="D9CF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5438130" y="2166541"/>
            <a:ext cx="1366490" cy="26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A2522"/>
              </a:buClr>
              <a:buSzPts val="1600"/>
              <a:buFont typeface="Public Sans"/>
              <a:buNone/>
            </a:pPr>
            <a:r>
              <a:rPr b="1" i="0" lang="en-US" sz="1600" u="none" cap="none" strike="noStrike">
                <a:solidFill>
                  <a:srgbClr val="2A2522"/>
                </a:solidFill>
                <a:latin typeface="Public Sans"/>
                <a:ea typeface="Public Sans"/>
                <a:cs typeface="Public Sans"/>
                <a:sym typeface="Public Sans"/>
              </a:rPr>
              <a:t>PostgreSQL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5438130" y="2410371"/>
            <a:ext cx="1366490" cy="452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524B"/>
              </a:buClr>
              <a:buSzPts val="1200"/>
              <a:buFont typeface="Public Sans"/>
              <a:buNone/>
            </a:pPr>
            <a:r>
              <a:rPr b="0" i="0" lang="en-US" sz="1200" u="none" cap="none" strike="noStrike">
                <a:solidFill>
                  <a:srgbClr val="5C524B"/>
                </a:solidFill>
                <a:latin typeface="Public Sans"/>
                <a:ea typeface="Public Sans"/>
                <a:cs typeface="Public Sans"/>
                <a:sym typeface="Public Sans"/>
              </a:rPr>
              <a:t>3NF schema, 32 queries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aperPlane" id="58" name="Google Shape;5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71320" y="2374801"/>
            <a:ext cx="254000" cy="2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5"/>
          <p:cNvSpPr/>
          <p:nvPr/>
        </p:nvSpPr>
        <p:spPr>
          <a:xfrm>
            <a:off x="7433270" y="1835100"/>
            <a:ext cx="1734840" cy="1333401"/>
          </a:xfrm>
          <a:prstGeom prst="roundRect">
            <a:avLst>
              <a:gd fmla="val 7143" name="adj"/>
            </a:avLst>
          </a:prstGeom>
          <a:solidFill>
            <a:srgbClr val="FBF8F5"/>
          </a:solidFill>
          <a:ln cap="flat" cmpd="sng" w="12700">
            <a:solidFill>
              <a:srgbClr val="D9CF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7642820" y="2044650"/>
            <a:ext cx="1366540" cy="513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A2522"/>
              </a:buClr>
              <a:buSzPts val="1600"/>
              <a:buFont typeface="Public Sans"/>
              <a:buNone/>
            </a:pPr>
            <a:r>
              <a:rPr b="1" i="0" lang="en-US" sz="1600" u="none" cap="none" strike="noStrike">
                <a:solidFill>
                  <a:srgbClr val="2A2522"/>
                </a:solidFill>
                <a:latin typeface="Public Sans"/>
                <a:ea typeface="Public Sans"/>
                <a:cs typeface="Public Sans"/>
                <a:sym typeface="Public Sans"/>
              </a:rPr>
              <a:t>Features + models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7642820" y="2532311"/>
            <a:ext cx="1366540" cy="452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524B"/>
              </a:buClr>
              <a:buSzPts val="1200"/>
              <a:buFont typeface="Public Sans"/>
              <a:buNone/>
            </a:pPr>
            <a:r>
              <a:rPr b="0" i="0" lang="en-US" sz="1200" u="none" cap="none" strike="noStrike">
                <a:solidFill>
                  <a:srgbClr val="5C524B"/>
                </a:solidFill>
                <a:latin typeface="Public Sans"/>
                <a:ea typeface="Public Sans"/>
                <a:cs typeface="Public Sans"/>
                <a:sym typeface="Public Sans"/>
              </a:rPr>
              <a:t>delivery time, churn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aperPlane" id="62" name="Google Shape;6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76060" y="2374801"/>
            <a:ext cx="254000" cy="2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5"/>
          <p:cNvSpPr/>
          <p:nvPr/>
        </p:nvSpPr>
        <p:spPr>
          <a:xfrm>
            <a:off x="9638010" y="2063651"/>
            <a:ext cx="1734840" cy="876250"/>
          </a:xfrm>
          <a:prstGeom prst="roundRect">
            <a:avLst>
              <a:gd fmla="val 10870" name="adj"/>
            </a:avLst>
          </a:prstGeom>
          <a:solidFill>
            <a:srgbClr val="FBF8F5"/>
          </a:solidFill>
          <a:ln cap="flat" cmpd="sng" w="12700">
            <a:solidFill>
              <a:srgbClr val="D9CF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9847560" y="2273201"/>
            <a:ext cx="1366540" cy="26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A2522"/>
              </a:buClr>
              <a:buSzPts val="1600"/>
              <a:buFont typeface="Public Sans"/>
              <a:buNone/>
            </a:pPr>
            <a:r>
              <a:rPr b="1" i="0" lang="en-US" sz="1600" u="none" cap="none" strike="noStrike">
                <a:solidFill>
                  <a:srgbClr val="2A2522"/>
                </a:solidFill>
                <a:latin typeface="Public Sans"/>
                <a:ea typeface="Public Sans"/>
                <a:cs typeface="Public Sans"/>
                <a:sym typeface="Public Sans"/>
              </a:rPr>
              <a:t>Power BI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9847560" y="2517031"/>
            <a:ext cx="151894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524B"/>
              </a:buClr>
              <a:buSzPts val="1200"/>
              <a:buFont typeface="Public Sans"/>
              <a:buNone/>
            </a:pPr>
            <a:r>
              <a:rPr b="0" i="0" lang="en-US" sz="1200" u="none" cap="none" strike="noStrike">
                <a:solidFill>
                  <a:srgbClr val="5C524B"/>
                </a:solidFill>
                <a:latin typeface="Public Sans"/>
                <a:ea typeface="Public Sans"/>
                <a:cs typeface="Public Sans"/>
                <a:sym typeface="Public Sans"/>
              </a:rPr>
              <a:t>6-page dashboard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812800" y="3687911"/>
            <a:ext cx="2321571" cy="665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B202D"/>
              </a:buClr>
              <a:buSzPts val="3600"/>
              <a:buFont typeface="Rubik"/>
              <a:buNone/>
            </a:pPr>
            <a:r>
              <a:rPr b="1" i="0" lang="en-US" sz="3600" u="none" cap="none" strike="noStrike">
                <a:solidFill>
                  <a:srgbClr val="CB202D"/>
                </a:solidFill>
                <a:latin typeface="Rubik"/>
                <a:ea typeface="Rubik"/>
                <a:cs typeface="Rubik"/>
                <a:sym typeface="Rubik"/>
              </a:rPr>
              <a:t>9 / 9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812800" y="4378771"/>
            <a:ext cx="2704743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524B"/>
              </a:buClr>
              <a:buSzPts val="1600"/>
              <a:buFont typeface="Public Sans"/>
              <a:buNone/>
            </a:pPr>
            <a:r>
              <a:rPr b="0" i="0" lang="en-US" sz="1600" u="none" cap="none" strike="noStrike">
                <a:solidFill>
                  <a:srgbClr val="5C524B"/>
                </a:solidFill>
                <a:latin typeface="Public Sans"/>
                <a:ea typeface="Public Sans"/>
                <a:cs typeface="Public Sans"/>
                <a:sym typeface="Public Sans"/>
              </a:rPr>
              <a:t>known data issues fixed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3676352" y="3687911"/>
            <a:ext cx="3390432" cy="665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B202D"/>
              </a:buClr>
              <a:buSzPts val="3600"/>
              <a:buFont typeface="Rubik"/>
              <a:buNone/>
            </a:pPr>
            <a:r>
              <a:rPr b="1" i="0" lang="en-US" sz="3600" u="none" cap="none" strike="noStrike">
                <a:solidFill>
                  <a:srgbClr val="CB202D"/>
                </a:solidFill>
                <a:latin typeface="Rubik"/>
                <a:ea typeface="Rubik"/>
                <a:cs typeface="Rubik"/>
                <a:sym typeface="Rubik"/>
              </a:rPr>
              <a:t>0.34%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3676352" y="4378771"/>
            <a:ext cx="3901281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524B"/>
              </a:buClr>
              <a:buSzPts val="1600"/>
              <a:buFont typeface="Public Sans"/>
              <a:buNone/>
            </a:pPr>
            <a:r>
              <a:rPr b="0" i="0" lang="en-US" sz="1600" u="none" cap="none" strike="noStrike">
                <a:solidFill>
                  <a:srgbClr val="5C524B"/>
                </a:solidFill>
                <a:latin typeface="Public Sans"/>
                <a:ea typeface="Public Sans"/>
                <a:cs typeface="Public Sans"/>
                <a:sym typeface="Public Sans"/>
              </a:rPr>
              <a:t>of rows dropped (613), each logged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7577634" y="3687911"/>
            <a:ext cx="2789217" cy="665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B202D"/>
              </a:buClr>
              <a:buSzPts val="3600"/>
              <a:buFont typeface="Rubik"/>
              <a:buNone/>
            </a:pPr>
            <a:r>
              <a:rPr b="1" i="0" lang="en-US" sz="3600" u="none" cap="none" strike="noStrike">
                <a:solidFill>
                  <a:srgbClr val="CB202D"/>
                </a:solidFill>
                <a:latin typeface="Rubik"/>
                <a:ea typeface="Rubik"/>
                <a:cs typeface="Rubik"/>
                <a:sym typeface="Rubik"/>
              </a:rPr>
              <a:t>1 command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7577634" y="4378771"/>
            <a:ext cx="3249573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524B"/>
              </a:buClr>
              <a:buSzPts val="1600"/>
              <a:buFont typeface="Public Sans"/>
              <a:buNone/>
            </a:pPr>
            <a:r>
              <a:rPr b="0" i="0" lang="en-US" sz="1600" u="none" cap="none" strike="noStrike">
                <a:solidFill>
                  <a:srgbClr val="5C524B"/>
                </a:solidFill>
                <a:latin typeface="Public Sans"/>
                <a:ea typeface="Public Sans"/>
                <a:cs typeface="Public Sans"/>
                <a:sym typeface="Public Sans"/>
              </a:rPr>
              <a:t>reruns everything end to end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812800" y="6238280"/>
            <a:ext cx="445008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6E66"/>
              </a:buClr>
              <a:buSzPts val="1200"/>
              <a:buFont typeface="Public Sans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8F5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"/>
          <p:cNvSpPr/>
          <p:nvPr/>
        </p:nvSpPr>
        <p:spPr>
          <a:xfrm>
            <a:off x="812800" y="812800"/>
            <a:ext cx="10883392" cy="52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A2522"/>
              </a:buClr>
              <a:buSzPts val="3600"/>
              <a:buFont typeface="Rubik"/>
              <a:buNone/>
            </a:pPr>
            <a:r>
              <a:rPr b="1" i="0" lang="en-US" sz="3600" u="none" cap="none" strike="noStrike">
                <a:solidFill>
                  <a:srgbClr val="2A2522"/>
                </a:solidFill>
                <a:latin typeface="Rubik"/>
                <a:ea typeface="Rubik"/>
                <a:cs typeface="Rubik"/>
                <a:sym typeface="Rubik"/>
              </a:rPr>
              <a:t>Only 56% of orders arrive on time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812800" y="1671290"/>
            <a:ext cx="10883392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524B"/>
              </a:buClr>
              <a:buSzPts val="1600"/>
              <a:buFont typeface="Public Sans"/>
              <a:buNone/>
            </a:pPr>
            <a:r>
              <a:rPr b="0" i="0" lang="en-US" sz="1600" u="none" cap="none" strike="noStrike">
                <a:solidFill>
                  <a:srgbClr val="5C524B"/>
                </a:solidFill>
                <a:latin typeface="Public Sans"/>
                <a:ea typeface="Public Sans"/>
                <a:cs typeface="Public Sans"/>
                <a:sym typeface="Public Sans"/>
              </a:rPr>
              <a:t>Outcome of all 20,475 orders, Jan 2023 – Dec 2024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812800" y="2311350"/>
            <a:ext cx="5873750" cy="762000"/>
          </a:xfrm>
          <a:custGeom>
            <a:rect b="b" l="l" r="r" t="t"/>
            <a:pathLst>
              <a:path extrusionOk="0" h="762000" w="5873750">
                <a:moveTo>
                  <a:pt x="76200" y="0"/>
                </a:moveTo>
                <a:lnTo>
                  <a:pt x="5873750" y="0"/>
                </a:lnTo>
                <a:lnTo>
                  <a:pt x="5873750" y="762000"/>
                </a:lnTo>
                <a:lnTo>
                  <a:pt x="76200" y="762000"/>
                </a:lnTo>
                <a:cubicBezTo>
                  <a:pt x="34116" y="762000"/>
                  <a:pt x="0" y="727884"/>
                  <a:pt x="0" y="68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B9AE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6686550" y="2311350"/>
            <a:ext cx="1111250" cy="762000"/>
          </a:xfrm>
          <a:prstGeom prst="rect">
            <a:avLst/>
          </a:prstGeom>
          <a:solidFill>
            <a:srgbClr val="8578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7797800" y="2311350"/>
            <a:ext cx="2355850" cy="762000"/>
          </a:xfrm>
          <a:prstGeom prst="rect">
            <a:avLst/>
          </a:prstGeom>
          <a:solidFill>
            <a:srgbClr val="CB20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"/>
          <p:cNvSpPr/>
          <p:nvPr/>
        </p:nvSpPr>
        <p:spPr>
          <a:xfrm>
            <a:off x="10153650" y="2311350"/>
            <a:ext cx="1225550" cy="762000"/>
          </a:xfrm>
          <a:custGeom>
            <a:rect b="b" l="l" r="r" t="t"/>
            <a:pathLst>
              <a:path extrusionOk="0" h="762000" w="1225550">
                <a:moveTo>
                  <a:pt x="0" y="0"/>
                </a:moveTo>
                <a:lnTo>
                  <a:pt x="1149350" y="0"/>
                </a:lnTo>
                <a:cubicBezTo>
                  <a:pt x="1169559" y="0"/>
                  <a:pt x="1188941" y="8028"/>
                  <a:pt x="1203232" y="22318"/>
                </a:cubicBezTo>
                <a:cubicBezTo>
                  <a:pt x="1217522" y="36609"/>
                  <a:pt x="1225550" y="55991"/>
                  <a:pt x="1225550" y="76200"/>
                </a:cubicBezTo>
                <a:lnTo>
                  <a:pt x="1225550" y="685800"/>
                </a:lnTo>
                <a:cubicBezTo>
                  <a:pt x="1225550" y="727884"/>
                  <a:pt x="1191434" y="762000"/>
                  <a:pt x="1149350" y="762000"/>
                </a:cubicBez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E885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4" name="Google Shape;84;p6"/>
          <p:cNvCxnSpPr/>
          <p:nvPr/>
        </p:nvCxnSpPr>
        <p:spPr>
          <a:xfrm>
            <a:off x="812800" y="3467050"/>
            <a:ext cx="2489200" cy="0"/>
          </a:xfrm>
          <a:prstGeom prst="straightConnector1">
            <a:avLst/>
          </a:prstGeom>
          <a:noFill/>
          <a:ln cap="flat" cmpd="sng" w="76200">
            <a:solidFill>
              <a:srgbClr val="B9AEA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" name="Google Shape;85;p6"/>
          <p:cNvSpPr/>
          <p:nvPr/>
        </p:nvSpPr>
        <p:spPr>
          <a:xfrm>
            <a:off x="812800" y="3606750"/>
            <a:ext cx="2563876" cy="41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A2522"/>
              </a:buClr>
              <a:buSzPts val="2200"/>
              <a:buFont typeface="Public Sans"/>
              <a:buNone/>
            </a:pPr>
            <a:r>
              <a:rPr b="1" i="0" lang="en-US" sz="2200" u="none" cap="none" strike="noStrike">
                <a:solidFill>
                  <a:srgbClr val="2A2522"/>
                </a:solidFill>
                <a:latin typeface="Public Sans"/>
                <a:ea typeface="Public Sans"/>
                <a:cs typeface="Public Sans"/>
                <a:sym typeface="Public Sans"/>
              </a:rPr>
              <a:t>55.6%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812800" y="4048671"/>
            <a:ext cx="256387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524B"/>
              </a:buClr>
              <a:buSzPts val="1200"/>
              <a:buFont typeface="Public Sans"/>
              <a:buNone/>
            </a:pPr>
            <a:r>
              <a:rPr b="0" i="0" lang="en-US" sz="1200" u="none" cap="none" strike="noStrike">
                <a:solidFill>
                  <a:srgbClr val="5C524B"/>
                </a:solidFill>
                <a:latin typeface="Public Sans"/>
                <a:ea typeface="Public Sans"/>
                <a:cs typeface="Public Sans"/>
                <a:sym typeface="Public Sans"/>
              </a:rPr>
              <a:t>Delivered on time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" name="Google Shape;87;p6"/>
          <p:cNvCxnSpPr/>
          <p:nvPr/>
        </p:nvCxnSpPr>
        <p:spPr>
          <a:xfrm>
            <a:off x="3505200" y="3467050"/>
            <a:ext cx="2489200" cy="0"/>
          </a:xfrm>
          <a:prstGeom prst="straightConnector1">
            <a:avLst/>
          </a:prstGeom>
          <a:noFill/>
          <a:ln cap="flat" cmpd="sng" w="76200">
            <a:solidFill>
              <a:srgbClr val="8578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" name="Google Shape;88;p6"/>
          <p:cNvSpPr/>
          <p:nvPr/>
        </p:nvSpPr>
        <p:spPr>
          <a:xfrm>
            <a:off x="3505200" y="3606750"/>
            <a:ext cx="2563876" cy="41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A2522"/>
              </a:buClr>
              <a:buSzPts val="2200"/>
              <a:buFont typeface="Public Sans"/>
              <a:buNone/>
            </a:pPr>
            <a:r>
              <a:rPr b="1" i="0" lang="en-US" sz="2200" u="none" cap="none" strike="noStrike">
                <a:solidFill>
                  <a:srgbClr val="2A2522"/>
                </a:solidFill>
                <a:latin typeface="Public Sans"/>
                <a:ea typeface="Public Sans"/>
                <a:cs typeface="Public Sans"/>
                <a:sym typeface="Public Sans"/>
              </a:rPr>
              <a:t>10.5%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3505200" y="4048671"/>
            <a:ext cx="256387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524B"/>
              </a:buClr>
              <a:buSzPts val="1200"/>
              <a:buFont typeface="Public Sans"/>
              <a:buNone/>
            </a:pPr>
            <a:r>
              <a:rPr b="0" i="0" lang="en-US" sz="1200" u="none" cap="none" strike="noStrike">
                <a:solidFill>
                  <a:srgbClr val="5C524B"/>
                </a:solidFill>
                <a:latin typeface="Public Sans"/>
                <a:ea typeface="Public Sans"/>
                <a:cs typeface="Public Sans"/>
                <a:sym typeface="Public Sans"/>
              </a:rPr>
              <a:t>Delivered late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" name="Google Shape;90;p6"/>
          <p:cNvCxnSpPr/>
          <p:nvPr/>
        </p:nvCxnSpPr>
        <p:spPr>
          <a:xfrm>
            <a:off x="6197600" y="3467050"/>
            <a:ext cx="2489200" cy="0"/>
          </a:xfrm>
          <a:prstGeom prst="straightConnector1">
            <a:avLst/>
          </a:prstGeom>
          <a:noFill/>
          <a:ln cap="flat" cmpd="sng" w="76200">
            <a:solidFill>
              <a:srgbClr val="CB202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" name="Google Shape;91;p6"/>
          <p:cNvSpPr/>
          <p:nvPr/>
        </p:nvSpPr>
        <p:spPr>
          <a:xfrm>
            <a:off x="6197600" y="3606750"/>
            <a:ext cx="2563876" cy="41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B202D"/>
              </a:buClr>
              <a:buSzPts val="2200"/>
              <a:buFont typeface="Public Sans"/>
              <a:buNone/>
            </a:pPr>
            <a:r>
              <a:rPr b="1" i="0" lang="en-US" sz="2200" u="none" cap="none" strike="noStrike">
                <a:solidFill>
                  <a:srgbClr val="CB202D"/>
                </a:solidFill>
                <a:latin typeface="Public Sans"/>
                <a:ea typeface="Public Sans"/>
                <a:cs typeface="Public Sans"/>
                <a:sym typeface="Public Sans"/>
              </a:rPr>
              <a:t>22.3%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6197600" y="4048671"/>
            <a:ext cx="256387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524B"/>
              </a:buClr>
              <a:buSzPts val="1200"/>
              <a:buFont typeface="Public Sans"/>
              <a:buNone/>
            </a:pPr>
            <a:r>
              <a:rPr b="0" i="0" lang="en-US" sz="1200" u="none" cap="none" strike="noStrike">
                <a:solidFill>
                  <a:srgbClr val="5C524B"/>
                </a:solidFill>
                <a:latin typeface="Public Sans"/>
                <a:ea typeface="Public Sans"/>
                <a:cs typeface="Public Sans"/>
                <a:sym typeface="Public Sans"/>
              </a:rPr>
              <a:t>Cancelled · ₹17.9 lakh lost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" name="Google Shape;93;p6"/>
          <p:cNvCxnSpPr/>
          <p:nvPr/>
        </p:nvCxnSpPr>
        <p:spPr>
          <a:xfrm>
            <a:off x="8890000" y="3467050"/>
            <a:ext cx="2489200" cy="0"/>
          </a:xfrm>
          <a:prstGeom prst="straightConnector1">
            <a:avLst/>
          </a:prstGeom>
          <a:noFill/>
          <a:ln cap="flat" cmpd="sng" w="76200">
            <a:solidFill>
              <a:srgbClr val="E8858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6"/>
          <p:cNvSpPr/>
          <p:nvPr/>
        </p:nvSpPr>
        <p:spPr>
          <a:xfrm>
            <a:off x="8890000" y="3606750"/>
            <a:ext cx="2563876" cy="41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B202D"/>
              </a:buClr>
              <a:buSzPts val="2200"/>
              <a:buFont typeface="Public Sans"/>
              <a:buNone/>
            </a:pPr>
            <a:r>
              <a:rPr b="1" i="0" lang="en-US" sz="2200" u="none" cap="none" strike="noStrike">
                <a:solidFill>
                  <a:srgbClr val="CB202D"/>
                </a:solidFill>
                <a:latin typeface="Public Sans"/>
                <a:ea typeface="Public Sans"/>
                <a:cs typeface="Public Sans"/>
                <a:sym typeface="Public Sans"/>
              </a:rPr>
              <a:t>11.5%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8890000" y="4048671"/>
            <a:ext cx="256387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524B"/>
              </a:buClr>
              <a:buSzPts val="1200"/>
              <a:buFont typeface="Public Sans"/>
              <a:buNone/>
            </a:pPr>
            <a:r>
              <a:rPr b="0" i="0" lang="en-US" sz="1200" u="none" cap="none" strike="noStrike">
                <a:solidFill>
                  <a:srgbClr val="5C524B"/>
                </a:solidFill>
                <a:latin typeface="Public Sans"/>
                <a:ea typeface="Public Sans"/>
                <a:cs typeface="Public Sans"/>
                <a:sym typeface="Public Sans"/>
              </a:rPr>
              <a:t>Food not delivered · ₹9.3 lakh lost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812800" y="4617591"/>
            <a:ext cx="9156700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A2522"/>
              </a:buClr>
              <a:buSzPts val="1600"/>
              <a:buFont typeface="Public Sans"/>
              <a:buNone/>
            </a:pPr>
            <a:r>
              <a:rPr b="0" i="0" lang="en-US" sz="1600" u="none" cap="none" strike="noStrike">
                <a:solidFill>
                  <a:srgbClr val="2A2522"/>
                </a:solidFill>
                <a:latin typeface="Public Sans"/>
                <a:ea typeface="Public Sans"/>
                <a:cs typeface="Public Sans"/>
                <a:sym typeface="Public Sans"/>
              </a:rPr>
              <a:t>“Food Not Delivered” alone cost ₹9.3 lakh, more than any single city earns in two years.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812800" y="6238280"/>
            <a:ext cx="5184041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6E66"/>
              </a:buClr>
              <a:buSzPts val="1200"/>
              <a:buFont typeface="Public Sans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8F5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"/>
          <p:cNvSpPr/>
          <p:nvPr/>
        </p:nvSpPr>
        <p:spPr>
          <a:xfrm>
            <a:off x="812800" y="812800"/>
            <a:ext cx="10883392" cy="1031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A2522"/>
              </a:buClr>
              <a:buSzPts val="3600"/>
              <a:buFont typeface="Rubik"/>
              <a:buNone/>
            </a:pPr>
            <a:r>
              <a:rPr b="1" i="0" lang="en-US" sz="3600" u="none" cap="none" strike="noStrike">
                <a:solidFill>
                  <a:srgbClr val="2A2522"/>
                </a:solidFill>
                <a:latin typeface="Rubik"/>
                <a:ea typeface="Rubik"/>
                <a:cs typeface="Rubik"/>
                <a:sym typeface="Rubik"/>
              </a:rPr>
              <a:t>Cancellations depend on the restaurant, not the category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812800" y="2123380"/>
            <a:ext cx="10883392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524B"/>
              </a:buClr>
              <a:buSzPts val="1600"/>
              <a:buFont typeface="Public Sans"/>
              <a:buNone/>
            </a:pPr>
            <a:r>
              <a:rPr b="0" i="0" lang="en-US" sz="1600" u="none" cap="none" strike="noStrike">
                <a:solidFill>
                  <a:srgbClr val="5C524B"/>
                </a:solidFill>
                <a:latin typeface="Public Sans"/>
                <a:ea typeface="Public Sans"/>
                <a:cs typeface="Public Sans"/>
                <a:sym typeface="Public Sans"/>
              </a:rPr>
              <a:t>Range of cancellation rates, lowest to highest group, on a 10–30% scale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812800" y="2712641"/>
            <a:ext cx="2354580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A2522"/>
              </a:buClr>
              <a:buSzPts val="1600"/>
              <a:buFont typeface="Public Sans"/>
              <a:buNone/>
            </a:pPr>
            <a:r>
              <a:rPr b="0" i="0" lang="en-US" sz="1600" u="none" cap="none" strike="noStrike">
                <a:solidFill>
                  <a:srgbClr val="2A2522"/>
                </a:solidFill>
                <a:latin typeface="Public Sans"/>
                <a:ea typeface="Public Sans"/>
                <a:cs typeface="Public Sans"/>
                <a:sym typeface="Public Sans"/>
              </a:rPr>
              <a:t>By cuisine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3098800" y="2727871"/>
            <a:ext cx="6985000" cy="254000"/>
          </a:xfrm>
          <a:prstGeom prst="roundRect">
            <a:avLst>
              <a:gd fmla="val 20000" name="adj"/>
            </a:avLst>
          </a:prstGeom>
          <a:solidFill>
            <a:srgbClr val="F1EA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6242050" y="2727871"/>
            <a:ext cx="2063750" cy="254000"/>
          </a:xfrm>
          <a:prstGeom prst="roundRect">
            <a:avLst>
              <a:gd fmla="val 20000" name="adj"/>
            </a:avLst>
          </a:prstGeom>
          <a:solidFill>
            <a:srgbClr val="B9AE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7"/>
          <p:cNvSpPr/>
          <p:nvPr/>
        </p:nvSpPr>
        <p:spPr>
          <a:xfrm>
            <a:off x="10033000" y="2712641"/>
            <a:ext cx="1346200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A2522"/>
              </a:buClr>
              <a:buSzPts val="1600"/>
              <a:buFont typeface="Public Sans"/>
              <a:buNone/>
            </a:pPr>
            <a:r>
              <a:rPr b="0" i="0" lang="en-US" sz="1600" u="none" cap="none" strike="noStrike">
                <a:solidFill>
                  <a:srgbClr val="2A2522"/>
                </a:solidFill>
                <a:latin typeface="Public Sans"/>
                <a:ea typeface="Public Sans"/>
                <a:cs typeface="Public Sans"/>
                <a:sym typeface="Public Sans"/>
              </a:rPr>
              <a:t>19.0–24.9%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812800" y="3174901"/>
            <a:ext cx="2354580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A2522"/>
              </a:buClr>
              <a:buSzPts val="1600"/>
              <a:buFont typeface="Public Sans"/>
              <a:buNone/>
            </a:pPr>
            <a:r>
              <a:rPr b="0" i="0" lang="en-US" sz="1600" u="none" cap="none" strike="noStrike">
                <a:solidFill>
                  <a:srgbClr val="2A2522"/>
                </a:solidFill>
                <a:latin typeface="Public Sans"/>
                <a:ea typeface="Public Sans"/>
                <a:cs typeface="Public Sans"/>
                <a:sym typeface="Public Sans"/>
              </a:rPr>
              <a:t>By city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3098800" y="3190131"/>
            <a:ext cx="6985000" cy="254000"/>
          </a:xfrm>
          <a:prstGeom prst="roundRect">
            <a:avLst>
              <a:gd fmla="val 20000" name="adj"/>
            </a:avLst>
          </a:prstGeom>
          <a:solidFill>
            <a:srgbClr val="F1EA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6591300" y="3190131"/>
            <a:ext cx="1498600" cy="254000"/>
          </a:xfrm>
          <a:prstGeom prst="roundRect">
            <a:avLst>
              <a:gd fmla="val 20000" name="adj"/>
            </a:avLst>
          </a:prstGeom>
          <a:solidFill>
            <a:srgbClr val="B9AE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"/>
          <p:cNvSpPr/>
          <p:nvPr/>
        </p:nvSpPr>
        <p:spPr>
          <a:xfrm>
            <a:off x="10033000" y="3174901"/>
            <a:ext cx="1346200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A2522"/>
              </a:buClr>
              <a:buSzPts val="1600"/>
              <a:buFont typeface="Public Sans"/>
              <a:buNone/>
            </a:pPr>
            <a:r>
              <a:rPr b="0" i="0" lang="en-US" sz="1600" u="none" cap="none" strike="noStrike">
                <a:solidFill>
                  <a:srgbClr val="2A2522"/>
                </a:solidFill>
                <a:latin typeface="Public Sans"/>
                <a:ea typeface="Public Sans"/>
                <a:cs typeface="Public Sans"/>
                <a:sym typeface="Public Sans"/>
              </a:rPr>
              <a:t>20.0–24.3%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812800" y="3637161"/>
            <a:ext cx="2354580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A2522"/>
              </a:buClr>
              <a:buSzPts val="1600"/>
              <a:buFont typeface="Public Sans"/>
              <a:buNone/>
            </a:pPr>
            <a:r>
              <a:rPr b="0" i="0" lang="en-US" sz="1600" u="none" cap="none" strike="noStrike">
                <a:solidFill>
                  <a:srgbClr val="2A2522"/>
                </a:solidFill>
                <a:latin typeface="Public Sans"/>
                <a:ea typeface="Public Sans"/>
                <a:cs typeface="Public Sans"/>
                <a:sym typeface="Public Sans"/>
              </a:rPr>
              <a:t>By payment method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3098800" y="3652391"/>
            <a:ext cx="6985000" cy="254000"/>
          </a:xfrm>
          <a:prstGeom prst="roundRect">
            <a:avLst>
              <a:gd fmla="val 20000" name="adj"/>
            </a:avLst>
          </a:prstGeom>
          <a:solidFill>
            <a:srgbClr val="F1EA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6908800" y="3652391"/>
            <a:ext cx="1016000" cy="254000"/>
          </a:xfrm>
          <a:prstGeom prst="roundRect">
            <a:avLst>
              <a:gd fmla="val 20000" name="adj"/>
            </a:avLst>
          </a:prstGeom>
          <a:solidFill>
            <a:srgbClr val="B9AE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10033000" y="3637161"/>
            <a:ext cx="1346200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A2522"/>
              </a:buClr>
              <a:buSzPts val="1600"/>
              <a:buFont typeface="Public Sans"/>
              <a:buNone/>
            </a:pPr>
            <a:r>
              <a:rPr b="0" i="0" lang="en-US" sz="1600" u="none" cap="none" strike="noStrike">
                <a:solidFill>
                  <a:srgbClr val="2A2522"/>
                </a:solidFill>
                <a:latin typeface="Public Sans"/>
                <a:ea typeface="Public Sans"/>
                <a:cs typeface="Public Sans"/>
                <a:sym typeface="Public Sans"/>
              </a:rPr>
              <a:t>20.9–23.8%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812800" y="4099421"/>
            <a:ext cx="2354580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B202D"/>
              </a:buClr>
              <a:buSzPts val="1600"/>
              <a:buFont typeface="Public Sans"/>
              <a:buNone/>
            </a:pPr>
            <a:r>
              <a:rPr b="1" i="0" lang="en-US" sz="1600" u="none" cap="none" strike="noStrike">
                <a:solidFill>
                  <a:srgbClr val="CB202D"/>
                </a:solidFill>
                <a:latin typeface="Public Sans"/>
                <a:ea typeface="Public Sans"/>
                <a:cs typeface="Public Sans"/>
                <a:sym typeface="Public Sans"/>
              </a:rPr>
              <a:t>By restaurant band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3098800" y="4114651"/>
            <a:ext cx="6985000" cy="254000"/>
          </a:xfrm>
          <a:prstGeom prst="roundRect">
            <a:avLst>
              <a:gd fmla="val 20000" name="adj"/>
            </a:avLst>
          </a:prstGeom>
          <a:solidFill>
            <a:srgbClr val="F1EA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5194300" y="4114651"/>
            <a:ext cx="4368800" cy="254000"/>
          </a:xfrm>
          <a:prstGeom prst="roundRect">
            <a:avLst>
              <a:gd fmla="val 20000" name="adj"/>
            </a:avLst>
          </a:prstGeom>
          <a:solidFill>
            <a:srgbClr val="CB20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10033000" y="4099421"/>
            <a:ext cx="1346200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B202D"/>
              </a:buClr>
              <a:buSzPts val="1600"/>
              <a:buFont typeface="Public Sans"/>
              <a:buNone/>
            </a:pPr>
            <a:r>
              <a:rPr b="1" i="0" lang="en-US" sz="1600" u="none" cap="none" strike="noStrike">
                <a:solidFill>
                  <a:srgbClr val="CB202D"/>
                </a:solidFill>
                <a:latin typeface="Public Sans"/>
                <a:ea typeface="Public Sans"/>
                <a:cs typeface="Public Sans"/>
                <a:sym typeface="Public Sans"/>
              </a:rPr>
              <a:t>16.0–28.5%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812800" y="4688681"/>
            <a:ext cx="9483725" cy="59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A2522"/>
              </a:buClr>
              <a:buSzPts val="1600"/>
              <a:buFont typeface="Public Sans"/>
              <a:buNone/>
            </a:pPr>
            <a:r>
              <a:rPr b="0" i="0" lang="en-US" sz="1600" u="none" cap="none" strike="noStrike">
                <a:solidFill>
                  <a:srgbClr val="2A2522"/>
                </a:solidFill>
                <a:latin typeface="Public Sans"/>
                <a:ea typeface="Public Sans"/>
                <a:cs typeface="Public Sans"/>
                <a:sym typeface="Public Sans"/>
              </a:rPr>
              <a:t>Mexican, Street Food and Mughlai cancel the most (about 25%), but the gap between a top and bottom restaurant is twice as wide as the gap between any two cuisines.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812800" y="6238280"/>
            <a:ext cx="7415391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6E66"/>
              </a:buClr>
              <a:buSzPts val="1200"/>
              <a:buFont typeface="Public Sans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EAE3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"/>
          <p:cNvSpPr/>
          <p:nvPr/>
        </p:nvSpPr>
        <p:spPr>
          <a:xfrm>
            <a:off x="812800" y="812800"/>
            <a:ext cx="10883392" cy="52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A2522"/>
              </a:buClr>
              <a:buSzPts val="3600"/>
              <a:buFont typeface="Rubik"/>
              <a:buNone/>
            </a:pPr>
            <a:r>
              <a:rPr b="1" i="0" lang="en-US" sz="3600" u="none" cap="none" strike="noStrike">
                <a:solidFill>
                  <a:srgbClr val="2A2522"/>
                </a:solidFill>
                <a:latin typeface="Rubik"/>
                <a:ea typeface="Rubik"/>
                <a:cs typeface="Rubik"/>
                <a:sym typeface="Rubik"/>
              </a:rPr>
              <a:t>A scorecard ranks all 1,200 restaurants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812800" y="1671290"/>
            <a:ext cx="11379200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524B"/>
              </a:buClr>
              <a:buSzPts val="1600"/>
              <a:buFont typeface="Public Sans"/>
              <a:buNone/>
            </a:pPr>
            <a:r>
              <a:rPr b="0" i="0" lang="en-US" sz="1600" u="none" cap="none" strike="noStrike">
                <a:solidFill>
                  <a:srgbClr val="5C524B"/>
                </a:solidFill>
                <a:latin typeface="Public Sans"/>
                <a:ea typeface="Public Sans"/>
                <a:cs typeface="Public Sans"/>
                <a:sym typeface="Public Sans"/>
              </a:rPr>
              <a:t>Score out of 100 = 40% rating + 30% not cancelling + 30% on-time delivery, ranked within each city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0" name="Google Shape;130;p8"/>
          <p:cNvGraphicFramePr/>
          <p:nvPr/>
        </p:nvGraphicFramePr>
        <p:xfrm>
          <a:off x="825500" y="2324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{A9B7608F-611E-48DE-8039-6A201CF00292}</a:tableStyleId>
              </a:tblPr>
              <a:tblGrid>
                <a:gridCol w="3588250"/>
                <a:gridCol w="1688600"/>
                <a:gridCol w="1688600"/>
                <a:gridCol w="1794125"/>
                <a:gridCol w="1794125"/>
              </a:tblGrid>
              <a:tr h="439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2522"/>
                        </a:buClr>
                        <a:buSzPts val="1600"/>
                        <a:buFont typeface="Public Sans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2A2522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Band</a:t>
                      </a:r>
                      <a:endParaRPr sz="1600" u="none" cap="none" strike="noStrike"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0BB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AE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AE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D9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2522"/>
                        </a:buClr>
                        <a:buSzPts val="1600"/>
                        <a:buFont typeface="Public Sans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2A2522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Restaurants</a:t>
                      </a:r>
                      <a:endParaRPr sz="1600" u="none" cap="none" strike="noStrike"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B2AE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AE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AE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D9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2522"/>
                        </a:buClr>
                        <a:buSzPts val="1600"/>
                        <a:buFont typeface="Public Sans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2A2522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Avg rating</a:t>
                      </a:r>
                      <a:endParaRPr sz="1600" u="none" cap="none" strike="noStrike"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B2AE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AE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AE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D9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2522"/>
                        </a:buClr>
                        <a:buSzPts val="1600"/>
                        <a:buFont typeface="Public Sans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2A2522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Cancelled</a:t>
                      </a:r>
                      <a:endParaRPr sz="1600" u="none" cap="none" strike="noStrike"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B2AE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AE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AE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D9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2522"/>
                        </a:buClr>
                        <a:buSzPts val="1600"/>
                        <a:buFont typeface="Public Sans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2A2522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Late</a:t>
                      </a:r>
                      <a:endParaRPr sz="1600" u="none" cap="none" strike="noStrike"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B2AE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AE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AE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D9D2"/>
                    </a:solidFill>
                  </a:tcPr>
                </a:tc>
              </a:tr>
              <a:tr h="439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2522"/>
                        </a:buClr>
                        <a:buSzPts val="1600"/>
                        <a:buFont typeface="Public Sans"/>
                        <a:buNone/>
                      </a:pPr>
                      <a:r>
                        <a:rPr lang="en-US" sz="1600" u="none" cap="none" strike="noStrike">
                          <a:solidFill>
                            <a:srgbClr val="2A2522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Top 10 per city</a:t>
                      </a:r>
                      <a:endParaRPr sz="1600" u="none" cap="none" strike="noStrike"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0BB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AE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2522"/>
                        </a:buClr>
                        <a:buSzPts val="1600"/>
                        <a:buFont typeface="Public Sans"/>
                        <a:buNone/>
                      </a:pPr>
                      <a:r>
                        <a:rPr lang="en-US" sz="1600" u="none" cap="none" strike="noStrike">
                          <a:solidFill>
                            <a:srgbClr val="2A2522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251</a:t>
                      </a:r>
                      <a:endParaRPr sz="1600" u="none" cap="none" strike="noStrike"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AE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2522"/>
                        </a:buClr>
                        <a:buSzPts val="1600"/>
                        <a:buFont typeface="Public Sans"/>
                        <a:buNone/>
                      </a:pPr>
                      <a:r>
                        <a:rPr lang="en-US" sz="1600" u="none" cap="none" strike="noStrike">
                          <a:solidFill>
                            <a:srgbClr val="2A2522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4.39</a:t>
                      </a:r>
                      <a:endParaRPr sz="1600" u="none" cap="none" strike="noStrike"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AE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2522"/>
                        </a:buClr>
                        <a:buSzPts val="1600"/>
                        <a:buFont typeface="Public Sans"/>
                        <a:buNone/>
                      </a:pPr>
                      <a:r>
                        <a:rPr lang="en-US" sz="1600" u="none" cap="none" strike="noStrike">
                          <a:solidFill>
                            <a:srgbClr val="2A2522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16.0%</a:t>
                      </a:r>
                      <a:endParaRPr sz="1600" u="none" cap="none" strike="noStrike"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AE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2522"/>
                        </a:buClr>
                        <a:buSzPts val="1600"/>
                        <a:buFont typeface="Public Sans"/>
                        <a:buNone/>
                      </a:pPr>
                      <a:r>
                        <a:rPr lang="en-US" sz="1600" u="none" cap="none" strike="noStrike">
                          <a:solidFill>
                            <a:srgbClr val="2A2522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9.5%</a:t>
                      </a:r>
                      <a:endParaRPr sz="1600" u="none" cap="none" strike="noStrike"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AE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8F5"/>
                    </a:solidFill>
                  </a:tcPr>
                </a:tc>
              </a:tr>
              <a:tr h="439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2522"/>
                        </a:buClr>
                        <a:buSzPts val="1600"/>
                        <a:buFont typeface="Public Sans"/>
                        <a:buNone/>
                      </a:pPr>
                      <a:r>
                        <a:rPr lang="en-US" sz="1600" u="none" cap="none" strike="noStrike">
                          <a:solidFill>
                            <a:srgbClr val="2A2522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Middle</a:t>
                      </a:r>
                      <a:endParaRPr sz="1600" u="none" cap="none" strike="noStrike"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0BB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BB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BB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2522"/>
                        </a:buClr>
                        <a:buSzPts val="1600"/>
                        <a:buFont typeface="Public Sans"/>
                        <a:buNone/>
                      </a:pPr>
                      <a:r>
                        <a:rPr lang="en-US" sz="1600" u="none" cap="none" strike="noStrike">
                          <a:solidFill>
                            <a:srgbClr val="2A2522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699</a:t>
                      </a:r>
                      <a:endParaRPr sz="1600" u="none" cap="none" strike="noStrike"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0BB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BB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BB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2522"/>
                        </a:buClr>
                        <a:buSzPts val="1600"/>
                        <a:buFont typeface="Public Sans"/>
                        <a:buNone/>
                      </a:pPr>
                      <a:r>
                        <a:rPr lang="en-US" sz="1600" u="none" cap="none" strike="noStrike">
                          <a:solidFill>
                            <a:srgbClr val="2A2522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3.87</a:t>
                      </a:r>
                      <a:endParaRPr sz="1600" u="none" cap="none" strike="noStrike"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0BB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BB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BB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2522"/>
                        </a:buClr>
                        <a:buSzPts val="1600"/>
                        <a:buFont typeface="Public Sans"/>
                        <a:buNone/>
                      </a:pPr>
                      <a:r>
                        <a:rPr lang="en-US" sz="1600" u="none" cap="none" strike="noStrike">
                          <a:solidFill>
                            <a:srgbClr val="2A2522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22.3%</a:t>
                      </a:r>
                      <a:endParaRPr sz="1600" u="none" cap="none" strike="noStrike"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0BB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BB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BB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2522"/>
                        </a:buClr>
                        <a:buSzPts val="1600"/>
                        <a:buFont typeface="Public Sans"/>
                        <a:buNone/>
                      </a:pPr>
                      <a:r>
                        <a:rPr lang="en-US" sz="1600" u="none" cap="none" strike="noStrike">
                          <a:solidFill>
                            <a:srgbClr val="2A2522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15.2%</a:t>
                      </a:r>
                      <a:endParaRPr sz="1600" u="none" cap="none" strike="noStrike"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0BB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BB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BB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9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2522"/>
                        </a:buClr>
                        <a:buSzPts val="1600"/>
                        <a:buFont typeface="Public Sans"/>
                        <a:buNone/>
                      </a:pPr>
                      <a:r>
                        <a:rPr lang="en-US" sz="1600" u="none" cap="none" strike="noStrike">
                          <a:solidFill>
                            <a:srgbClr val="2A2522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Bottom 10 per city</a:t>
                      </a:r>
                      <a:endParaRPr sz="1600" u="none" cap="none" strike="noStrike"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0BB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A9A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A9A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D3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2522"/>
                        </a:buClr>
                        <a:buSzPts val="1600"/>
                        <a:buFont typeface="Public Sans"/>
                        <a:buNone/>
                      </a:pPr>
                      <a:r>
                        <a:rPr lang="en-US" sz="1600" u="none" cap="none" strike="noStrike">
                          <a:solidFill>
                            <a:srgbClr val="2A2522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250</a:t>
                      </a:r>
                      <a:endParaRPr sz="1600" u="none" cap="none" strike="noStrike"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4A9A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A9A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A9A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D3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2522"/>
                        </a:buClr>
                        <a:buSzPts val="1600"/>
                        <a:buFont typeface="Public Sans"/>
                        <a:buNone/>
                      </a:pPr>
                      <a:r>
                        <a:rPr lang="en-US" sz="1600" u="none" cap="none" strike="noStrike">
                          <a:solidFill>
                            <a:srgbClr val="2A2522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3.41</a:t>
                      </a:r>
                      <a:endParaRPr sz="1600" u="none" cap="none" strike="noStrike"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4A9A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A9A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A9A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D3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2522"/>
                        </a:buClr>
                        <a:buSzPts val="1600"/>
                        <a:buFont typeface="Public Sans"/>
                        <a:buNone/>
                      </a:pPr>
                      <a:r>
                        <a:rPr lang="en-US" sz="1600" u="none" cap="none" strike="noStrike">
                          <a:solidFill>
                            <a:srgbClr val="2A2522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28.5%</a:t>
                      </a:r>
                      <a:endParaRPr sz="1600" u="none" cap="none" strike="noStrike"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4A9A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A9A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A9A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D3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2522"/>
                        </a:buClr>
                        <a:buSzPts val="1600"/>
                        <a:buFont typeface="Public Sans"/>
                        <a:buNone/>
                      </a:pPr>
                      <a:r>
                        <a:rPr lang="en-US" sz="1600" u="none" cap="none" strike="noStrike">
                          <a:solidFill>
                            <a:srgbClr val="2A2522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24.5%</a:t>
                      </a:r>
                      <a:endParaRPr sz="1600" u="none" cap="none" strike="noStrike"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4A9A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A9A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A9A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D3D6"/>
                    </a:solidFill>
                  </a:tcPr>
                </a:tc>
              </a:tr>
            </a:tbl>
          </a:graphicData>
        </a:graphic>
      </p:graphicFrame>
      <p:sp>
        <p:nvSpPr>
          <p:cNvPr id="131" name="Google Shape;131;p8"/>
          <p:cNvSpPr/>
          <p:nvPr/>
        </p:nvSpPr>
        <p:spPr>
          <a:xfrm>
            <a:off x="812800" y="4437013"/>
            <a:ext cx="9483725" cy="59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A2522"/>
              </a:buClr>
              <a:buSzPts val="1600"/>
              <a:buFont typeface="Public Sans"/>
              <a:buNone/>
            </a:pPr>
            <a:r>
              <a:rPr b="0" i="0" lang="en-US" sz="1600" u="none" cap="none" strike="noStrike">
                <a:solidFill>
                  <a:srgbClr val="2A2522"/>
                </a:solidFill>
                <a:latin typeface="Public Sans"/>
                <a:ea typeface="Public Sans"/>
                <a:cs typeface="Public Sans"/>
                <a:sym typeface="Public Sans"/>
              </a:rPr>
              <a:t>A bottom-band restaurant is almost twice as likely to cancel and 2.5× as likely to deliver late. The list is in the dashboard and refreshes with the pipeline.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812800" y="6238280"/>
            <a:ext cx="7294483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6E66"/>
              </a:buClr>
              <a:buSzPts val="1200"/>
              <a:buFont typeface="Public Sans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8F5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"/>
          <p:cNvSpPr/>
          <p:nvPr/>
        </p:nvSpPr>
        <p:spPr>
          <a:xfrm>
            <a:off x="812800" y="812800"/>
            <a:ext cx="10883392" cy="1031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A2522"/>
              </a:buClr>
              <a:buSzPts val="3600"/>
              <a:buFont typeface="Rubik"/>
              <a:buNone/>
            </a:pPr>
            <a:r>
              <a:rPr b="1" i="0" lang="en-US" sz="3600" u="none" cap="none" strike="noStrike">
                <a:solidFill>
                  <a:srgbClr val="2A2522"/>
                </a:solidFill>
                <a:latin typeface="Rubik"/>
                <a:ea typeface="Rubik"/>
                <a:cs typeface="Rubik"/>
                <a:sym typeface="Rubik"/>
              </a:rPr>
              <a:t>Weather, traffic and rush hour barely move delivery time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9"/>
          <p:cNvSpPr/>
          <p:nvPr/>
        </p:nvSpPr>
        <p:spPr>
          <a:xfrm>
            <a:off x="812800" y="2123380"/>
            <a:ext cx="10883392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524B"/>
              </a:buClr>
              <a:buSzPts val="1600"/>
              <a:buFont typeface="Public Sans"/>
              <a:buNone/>
            </a:pPr>
            <a:r>
              <a:rPr b="0" i="0" lang="en-US" sz="1600" u="none" cap="none" strike="noStrike">
                <a:solidFill>
                  <a:srgbClr val="5C524B"/>
                </a:solidFill>
                <a:latin typeface="Public Sans"/>
                <a:ea typeface="Public Sans"/>
                <a:cs typeface="Public Sans"/>
                <a:sym typeface="Public Sans"/>
              </a:rPr>
              <a:t>Gap in average delivery time between best and worst case, minutes (median order: 36 min)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9"/>
          <p:cNvSpPr/>
          <p:nvPr/>
        </p:nvSpPr>
        <p:spPr>
          <a:xfrm>
            <a:off x="812800" y="2722811"/>
            <a:ext cx="2354580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B202D"/>
              </a:buClr>
              <a:buSzPts val="1600"/>
              <a:buFont typeface="Public Sans"/>
              <a:buNone/>
            </a:pPr>
            <a:r>
              <a:rPr b="1" i="0" lang="en-US" sz="1600" u="none" cap="none" strike="noStrike">
                <a:solidFill>
                  <a:srgbClr val="CB202D"/>
                </a:solidFill>
                <a:latin typeface="Public Sans"/>
                <a:ea typeface="Public Sans"/>
                <a:cs typeface="Public Sans"/>
                <a:sym typeface="Public Sans"/>
              </a:rPr>
              <a:t>City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9"/>
          <p:cNvSpPr/>
          <p:nvPr/>
        </p:nvSpPr>
        <p:spPr>
          <a:xfrm>
            <a:off x="3098800" y="2712641"/>
            <a:ext cx="6350000" cy="304800"/>
          </a:xfrm>
          <a:custGeom>
            <a:rect b="b" l="l" r="r" t="t"/>
            <a:pathLst>
              <a:path extrusionOk="0" h="304800" w="6350000">
                <a:moveTo>
                  <a:pt x="0" y="0"/>
                </a:moveTo>
                <a:lnTo>
                  <a:pt x="6299200" y="0"/>
                </a:lnTo>
                <a:cubicBezTo>
                  <a:pt x="6312673" y="0"/>
                  <a:pt x="6325594" y="5352"/>
                  <a:pt x="6335121" y="14879"/>
                </a:cubicBezTo>
                <a:cubicBezTo>
                  <a:pt x="6344648" y="24406"/>
                  <a:pt x="6350000" y="37327"/>
                  <a:pt x="6350000" y="50800"/>
                </a:cubicBezTo>
                <a:lnTo>
                  <a:pt x="6350000" y="254000"/>
                </a:lnTo>
                <a:cubicBezTo>
                  <a:pt x="6350000" y="282056"/>
                  <a:pt x="6327256" y="304800"/>
                  <a:pt x="6299200" y="304800"/>
                </a:cubicBez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CB20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9"/>
          <p:cNvSpPr/>
          <p:nvPr/>
        </p:nvSpPr>
        <p:spPr>
          <a:xfrm>
            <a:off x="9575800" y="2722811"/>
            <a:ext cx="382845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B202D"/>
              </a:buClr>
              <a:buSzPts val="1600"/>
              <a:buFont typeface="Public Sans"/>
              <a:buNone/>
            </a:pPr>
            <a:r>
              <a:rPr b="1" i="0" lang="en-US" sz="1600" u="none" cap="none" strike="noStrike">
                <a:solidFill>
                  <a:srgbClr val="CB202D"/>
                </a:solidFill>
                <a:latin typeface="Public Sans"/>
                <a:ea typeface="Public Sans"/>
                <a:cs typeface="Public Sans"/>
                <a:sym typeface="Public Sans"/>
              </a:rPr>
              <a:t>4.0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812800" y="3205411"/>
            <a:ext cx="2354580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A2522"/>
              </a:buClr>
              <a:buSzPts val="1600"/>
              <a:buFont typeface="Public Sans"/>
              <a:buNone/>
            </a:pPr>
            <a:r>
              <a:rPr b="0" i="0" lang="en-US" sz="1600" u="none" cap="none" strike="noStrike">
                <a:solidFill>
                  <a:srgbClr val="2A2522"/>
                </a:solidFill>
                <a:latin typeface="Public Sans"/>
                <a:ea typeface="Public Sans"/>
                <a:cs typeface="Public Sans"/>
                <a:sym typeface="Public Sans"/>
              </a:rPr>
              <a:t>Traffic level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3098800" y="3195241"/>
            <a:ext cx="952500" cy="304800"/>
          </a:xfrm>
          <a:custGeom>
            <a:rect b="b" l="l" r="r" t="t"/>
            <a:pathLst>
              <a:path extrusionOk="0" h="304800" w="952500">
                <a:moveTo>
                  <a:pt x="0" y="0"/>
                </a:moveTo>
                <a:lnTo>
                  <a:pt x="901700" y="0"/>
                </a:lnTo>
                <a:cubicBezTo>
                  <a:pt x="915173" y="0"/>
                  <a:pt x="928094" y="5352"/>
                  <a:pt x="937621" y="14879"/>
                </a:cubicBezTo>
                <a:cubicBezTo>
                  <a:pt x="947148" y="24406"/>
                  <a:pt x="952500" y="37327"/>
                  <a:pt x="952500" y="50800"/>
                </a:cubicBezTo>
                <a:lnTo>
                  <a:pt x="952500" y="254000"/>
                </a:lnTo>
                <a:cubicBezTo>
                  <a:pt x="952500" y="282056"/>
                  <a:pt x="929756" y="304800"/>
                  <a:pt x="901700" y="304800"/>
                </a:cubicBez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B9AE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9"/>
          <p:cNvSpPr/>
          <p:nvPr/>
        </p:nvSpPr>
        <p:spPr>
          <a:xfrm>
            <a:off x="4178300" y="3205411"/>
            <a:ext cx="355937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A2522"/>
              </a:buClr>
              <a:buSzPts val="1600"/>
              <a:buFont typeface="Public Sans"/>
              <a:buNone/>
            </a:pPr>
            <a:r>
              <a:rPr b="0" i="0" lang="en-US" sz="1600" u="none" cap="none" strike="noStrike">
                <a:solidFill>
                  <a:srgbClr val="2A2522"/>
                </a:solidFill>
                <a:latin typeface="Public Sans"/>
                <a:ea typeface="Public Sans"/>
                <a:cs typeface="Public Sans"/>
                <a:sym typeface="Public Sans"/>
              </a:rPr>
              <a:t>0.6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812800" y="3688011"/>
            <a:ext cx="2354580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A2522"/>
              </a:buClr>
              <a:buSzPts val="1600"/>
              <a:buFont typeface="Public Sans"/>
              <a:buNone/>
            </a:pPr>
            <a:r>
              <a:rPr b="0" i="0" lang="en-US" sz="1600" u="none" cap="none" strike="noStrike">
                <a:solidFill>
                  <a:srgbClr val="2A2522"/>
                </a:solidFill>
                <a:latin typeface="Public Sans"/>
                <a:ea typeface="Public Sans"/>
                <a:cs typeface="Public Sans"/>
                <a:sym typeface="Public Sans"/>
              </a:rPr>
              <a:t>Rain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3098800" y="3677841"/>
            <a:ext cx="793750" cy="304800"/>
          </a:xfrm>
          <a:custGeom>
            <a:rect b="b" l="l" r="r" t="t"/>
            <a:pathLst>
              <a:path extrusionOk="0" h="304800" w="793750">
                <a:moveTo>
                  <a:pt x="0" y="0"/>
                </a:moveTo>
                <a:lnTo>
                  <a:pt x="742950" y="0"/>
                </a:lnTo>
                <a:cubicBezTo>
                  <a:pt x="756423" y="0"/>
                  <a:pt x="769344" y="5352"/>
                  <a:pt x="778871" y="14879"/>
                </a:cubicBezTo>
                <a:cubicBezTo>
                  <a:pt x="788398" y="24406"/>
                  <a:pt x="793750" y="37327"/>
                  <a:pt x="793750" y="50800"/>
                </a:cubicBezTo>
                <a:lnTo>
                  <a:pt x="793750" y="254000"/>
                </a:lnTo>
                <a:cubicBezTo>
                  <a:pt x="793750" y="282056"/>
                  <a:pt x="771006" y="304800"/>
                  <a:pt x="742950" y="304800"/>
                </a:cubicBez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B9AE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9"/>
          <p:cNvSpPr/>
          <p:nvPr/>
        </p:nvSpPr>
        <p:spPr>
          <a:xfrm>
            <a:off x="4019550" y="3688011"/>
            <a:ext cx="360224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A2522"/>
              </a:buClr>
              <a:buSzPts val="1600"/>
              <a:buFont typeface="Public Sans"/>
              <a:buNone/>
            </a:pPr>
            <a:r>
              <a:rPr b="0" i="0" lang="en-US" sz="1600" u="none" cap="none" strike="noStrike">
                <a:solidFill>
                  <a:srgbClr val="2A2522"/>
                </a:solidFill>
                <a:latin typeface="Public Sans"/>
                <a:ea typeface="Public Sans"/>
                <a:cs typeface="Public Sans"/>
                <a:sym typeface="Public Sans"/>
              </a:rPr>
              <a:t>0.5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812800" y="4170611"/>
            <a:ext cx="2354580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A2522"/>
              </a:buClr>
              <a:buSzPts val="1600"/>
              <a:buFont typeface="Public Sans"/>
              <a:buNone/>
            </a:pPr>
            <a:r>
              <a:rPr b="0" i="0" lang="en-US" sz="1600" u="none" cap="none" strike="noStrike">
                <a:solidFill>
                  <a:srgbClr val="2A2522"/>
                </a:solidFill>
                <a:latin typeface="Public Sans"/>
                <a:ea typeface="Public Sans"/>
                <a:cs typeface="Public Sans"/>
                <a:sym typeface="Public Sans"/>
              </a:rPr>
              <a:t>Peak hour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3098800" y="4160441"/>
            <a:ext cx="317500" cy="304800"/>
          </a:xfrm>
          <a:custGeom>
            <a:rect b="b" l="l" r="r" t="t"/>
            <a:pathLst>
              <a:path extrusionOk="0" h="304800" w="317500">
                <a:moveTo>
                  <a:pt x="0" y="0"/>
                </a:moveTo>
                <a:lnTo>
                  <a:pt x="266700" y="0"/>
                </a:lnTo>
                <a:cubicBezTo>
                  <a:pt x="280173" y="0"/>
                  <a:pt x="293094" y="5352"/>
                  <a:pt x="302621" y="14879"/>
                </a:cubicBezTo>
                <a:cubicBezTo>
                  <a:pt x="312148" y="24406"/>
                  <a:pt x="317500" y="37327"/>
                  <a:pt x="317500" y="50800"/>
                </a:cubicBezTo>
                <a:lnTo>
                  <a:pt x="317500" y="254000"/>
                </a:lnTo>
                <a:cubicBezTo>
                  <a:pt x="317500" y="282056"/>
                  <a:pt x="294756" y="304800"/>
                  <a:pt x="266700" y="304800"/>
                </a:cubicBez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B9AE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9"/>
          <p:cNvSpPr/>
          <p:nvPr/>
        </p:nvSpPr>
        <p:spPr>
          <a:xfrm>
            <a:off x="3543300" y="4170611"/>
            <a:ext cx="354330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A2522"/>
              </a:buClr>
              <a:buSzPts val="1600"/>
              <a:buFont typeface="Public Sans"/>
              <a:buNone/>
            </a:pPr>
            <a:r>
              <a:rPr b="0" i="0" lang="en-US" sz="1600" u="none" cap="none" strike="noStrike">
                <a:solidFill>
                  <a:srgbClr val="2A2522"/>
                </a:solidFill>
                <a:latin typeface="Public Sans"/>
                <a:ea typeface="Public Sans"/>
                <a:cs typeface="Public Sans"/>
                <a:sym typeface="Public Sans"/>
              </a:rPr>
              <a:t>0.2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812800" y="4770041"/>
            <a:ext cx="9483725" cy="878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A2522"/>
              </a:buClr>
              <a:buSzPts val="1600"/>
              <a:buFont typeface="Public Sans"/>
              <a:buNone/>
            </a:pPr>
            <a:r>
              <a:rPr b="0" i="0" lang="en-US" sz="1600" u="none" cap="none" strike="noStrike">
                <a:solidFill>
                  <a:srgbClr val="2A2522"/>
                </a:solidFill>
                <a:latin typeface="Public Sans"/>
                <a:ea typeface="Public Sans"/>
                <a:cs typeface="Public Sans"/>
                <a:sym typeface="Public Sans"/>
              </a:rPr>
              <a:t>Ludhiana (41.1 min) and Nagpur deliver about 18% of orders late, against 14% in Bengaluru. Partners are evenly matched: rating has no link to speed, and the busiest 10% handle only 20% of deliveries.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812800" y="6238280"/>
            <a:ext cx="718667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6E66"/>
              </a:buClr>
              <a:buSzPts val="1200"/>
              <a:buFont typeface="Public Sans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EAE3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"/>
          <p:cNvSpPr/>
          <p:nvPr/>
        </p:nvSpPr>
        <p:spPr>
          <a:xfrm>
            <a:off x="812800" y="812800"/>
            <a:ext cx="10883392" cy="52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A2522"/>
              </a:buClr>
              <a:buSzPts val="3600"/>
              <a:buFont typeface="Rubik"/>
              <a:buNone/>
            </a:pPr>
            <a:r>
              <a:rPr b="1" i="0" lang="en-US" sz="3600" u="none" cap="none" strike="noStrike">
                <a:solidFill>
                  <a:srgbClr val="2A2522"/>
                </a:solidFill>
                <a:latin typeface="Rubik"/>
                <a:ea typeface="Rubik"/>
                <a:cs typeface="Rubik"/>
                <a:sym typeface="Rubik"/>
              </a:rPr>
              <a:t>Demand peaks at lunch and dinner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0"/>
          <p:cNvSpPr/>
          <p:nvPr/>
        </p:nvSpPr>
        <p:spPr>
          <a:xfrm>
            <a:off x="812800" y="1518890"/>
            <a:ext cx="10883392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524B"/>
              </a:buClr>
              <a:buSzPts val="1600"/>
              <a:buFont typeface="Public Sans"/>
              <a:buNone/>
            </a:pPr>
            <a:r>
              <a:rPr b="0" i="0" lang="en-US" sz="1600" u="none" cap="none" strike="noStrike">
                <a:solidFill>
                  <a:srgbClr val="5C524B"/>
                </a:solidFill>
                <a:latin typeface="Public Sans"/>
                <a:ea typeface="Public Sans"/>
                <a:cs typeface="Public Sans"/>
                <a:sym typeface="Public Sans"/>
              </a:rPr>
              <a:t>Orders placed by hour of day, all 20,475 orders · 48% land between 11 am–2 pm and 6–9 pm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0"/>
          <p:cNvSpPr/>
          <p:nvPr/>
        </p:nvSpPr>
        <p:spPr>
          <a:xfrm>
            <a:off x="812800" y="4876750"/>
            <a:ext cx="367209" cy="304800"/>
          </a:xfrm>
          <a:prstGeom prst="rect">
            <a:avLst/>
          </a:prstGeom>
          <a:solidFill>
            <a:srgbClr val="B9AE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0"/>
          <p:cNvSpPr/>
          <p:nvPr/>
        </p:nvSpPr>
        <p:spPr>
          <a:xfrm>
            <a:off x="1256209" y="4889450"/>
            <a:ext cx="367258" cy="292100"/>
          </a:xfrm>
          <a:prstGeom prst="rect">
            <a:avLst/>
          </a:prstGeom>
          <a:solidFill>
            <a:srgbClr val="B9AE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0"/>
          <p:cNvSpPr/>
          <p:nvPr/>
        </p:nvSpPr>
        <p:spPr>
          <a:xfrm>
            <a:off x="1699667" y="4933900"/>
            <a:ext cx="367209" cy="247650"/>
          </a:xfrm>
          <a:prstGeom prst="rect">
            <a:avLst/>
          </a:prstGeom>
          <a:solidFill>
            <a:srgbClr val="B9AE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0"/>
          <p:cNvSpPr/>
          <p:nvPr/>
        </p:nvSpPr>
        <p:spPr>
          <a:xfrm>
            <a:off x="2143075" y="4883100"/>
            <a:ext cx="367258" cy="298450"/>
          </a:xfrm>
          <a:prstGeom prst="rect">
            <a:avLst/>
          </a:prstGeom>
          <a:solidFill>
            <a:srgbClr val="B9AE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0"/>
          <p:cNvSpPr/>
          <p:nvPr/>
        </p:nvSpPr>
        <p:spPr>
          <a:xfrm>
            <a:off x="2586534" y="4908500"/>
            <a:ext cx="367209" cy="273050"/>
          </a:xfrm>
          <a:prstGeom prst="rect">
            <a:avLst/>
          </a:prstGeom>
          <a:solidFill>
            <a:srgbClr val="B9AE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0"/>
          <p:cNvSpPr/>
          <p:nvPr/>
        </p:nvSpPr>
        <p:spPr>
          <a:xfrm>
            <a:off x="3029942" y="4889450"/>
            <a:ext cx="367258" cy="292100"/>
          </a:xfrm>
          <a:prstGeom prst="rect">
            <a:avLst/>
          </a:prstGeom>
          <a:solidFill>
            <a:srgbClr val="B9AE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0"/>
          <p:cNvSpPr/>
          <p:nvPr/>
        </p:nvSpPr>
        <p:spPr>
          <a:xfrm>
            <a:off x="3473400" y="4610050"/>
            <a:ext cx="367209" cy="571500"/>
          </a:xfrm>
          <a:prstGeom prst="rect">
            <a:avLst/>
          </a:prstGeom>
          <a:solidFill>
            <a:srgbClr val="B9AE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0"/>
          <p:cNvSpPr/>
          <p:nvPr/>
        </p:nvSpPr>
        <p:spPr>
          <a:xfrm>
            <a:off x="3916809" y="4343350"/>
            <a:ext cx="367258" cy="838200"/>
          </a:xfrm>
          <a:prstGeom prst="rect">
            <a:avLst/>
          </a:prstGeom>
          <a:solidFill>
            <a:srgbClr val="B9AE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0"/>
          <p:cNvSpPr/>
          <p:nvPr/>
        </p:nvSpPr>
        <p:spPr>
          <a:xfrm>
            <a:off x="4360267" y="3994100"/>
            <a:ext cx="367209" cy="1187450"/>
          </a:xfrm>
          <a:prstGeom prst="rect">
            <a:avLst/>
          </a:prstGeom>
          <a:solidFill>
            <a:srgbClr val="B9AE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0"/>
          <p:cNvSpPr/>
          <p:nvPr/>
        </p:nvSpPr>
        <p:spPr>
          <a:xfrm>
            <a:off x="4803676" y="3835350"/>
            <a:ext cx="367258" cy="1346200"/>
          </a:xfrm>
          <a:prstGeom prst="rect">
            <a:avLst/>
          </a:prstGeom>
          <a:solidFill>
            <a:srgbClr val="B9AE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0"/>
          <p:cNvSpPr/>
          <p:nvPr/>
        </p:nvSpPr>
        <p:spPr>
          <a:xfrm>
            <a:off x="5247134" y="3498800"/>
            <a:ext cx="367209" cy="1682750"/>
          </a:xfrm>
          <a:prstGeom prst="rect">
            <a:avLst/>
          </a:prstGeom>
          <a:solidFill>
            <a:srgbClr val="B9AE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0"/>
          <p:cNvSpPr/>
          <p:nvPr/>
        </p:nvSpPr>
        <p:spPr>
          <a:xfrm>
            <a:off x="5690543" y="2952700"/>
            <a:ext cx="367258" cy="2228850"/>
          </a:xfrm>
          <a:prstGeom prst="rect">
            <a:avLst/>
          </a:prstGeom>
          <a:solidFill>
            <a:srgbClr val="B9AE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0"/>
          <p:cNvSpPr/>
          <p:nvPr/>
        </p:nvSpPr>
        <p:spPr>
          <a:xfrm>
            <a:off x="6123186" y="2199630"/>
            <a:ext cx="466665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B202D"/>
              </a:buClr>
              <a:buSzPts val="1200"/>
              <a:buFont typeface="Public Sans"/>
              <a:buNone/>
            </a:pPr>
            <a:r>
              <a:rPr b="1" i="0" lang="en-US" sz="1200" u="none" cap="none" strike="noStrike">
                <a:solidFill>
                  <a:srgbClr val="CB202D"/>
                </a:solidFill>
                <a:latin typeface="Public Sans"/>
                <a:ea typeface="Public Sans"/>
                <a:cs typeface="Public Sans"/>
                <a:sym typeface="Public Sans"/>
              </a:rPr>
              <a:t>1,749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6134001" y="2463750"/>
            <a:ext cx="367209" cy="2717800"/>
          </a:xfrm>
          <a:prstGeom prst="rect">
            <a:avLst/>
          </a:prstGeom>
          <a:solidFill>
            <a:srgbClr val="CB20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0"/>
          <p:cNvSpPr/>
          <p:nvPr/>
        </p:nvSpPr>
        <p:spPr>
          <a:xfrm>
            <a:off x="6577409" y="2597100"/>
            <a:ext cx="367258" cy="2584450"/>
          </a:xfrm>
          <a:prstGeom prst="rect">
            <a:avLst/>
          </a:prstGeom>
          <a:solidFill>
            <a:srgbClr val="B9AE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0"/>
          <p:cNvSpPr/>
          <p:nvPr/>
        </p:nvSpPr>
        <p:spPr>
          <a:xfrm>
            <a:off x="7020868" y="3479750"/>
            <a:ext cx="367209" cy="1701800"/>
          </a:xfrm>
          <a:prstGeom prst="rect">
            <a:avLst/>
          </a:prstGeom>
          <a:solidFill>
            <a:srgbClr val="B9AE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0"/>
          <p:cNvSpPr/>
          <p:nvPr/>
        </p:nvSpPr>
        <p:spPr>
          <a:xfrm>
            <a:off x="7464276" y="3746450"/>
            <a:ext cx="367258" cy="1435100"/>
          </a:xfrm>
          <a:prstGeom prst="rect">
            <a:avLst/>
          </a:prstGeom>
          <a:solidFill>
            <a:srgbClr val="B9AE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0"/>
          <p:cNvSpPr/>
          <p:nvPr/>
        </p:nvSpPr>
        <p:spPr>
          <a:xfrm>
            <a:off x="7907734" y="3784550"/>
            <a:ext cx="367258" cy="1397000"/>
          </a:xfrm>
          <a:prstGeom prst="rect">
            <a:avLst/>
          </a:prstGeom>
          <a:solidFill>
            <a:srgbClr val="B9AE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0"/>
          <p:cNvSpPr/>
          <p:nvPr/>
        </p:nvSpPr>
        <p:spPr>
          <a:xfrm>
            <a:off x="8351193" y="3530550"/>
            <a:ext cx="367258" cy="1651000"/>
          </a:xfrm>
          <a:prstGeom prst="rect">
            <a:avLst/>
          </a:prstGeom>
          <a:solidFill>
            <a:srgbClr val="B9AE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0"/>
          <p:cNvSpPr/>
          <p:nvPr/>
        </p:nvSpPr>
        <p:spPr>
          <a:xfrm>
            <a:off x="8794651" y="2889200"/>
            <a:ext cx="367258" cy="2292350"/>
          </a:xfrm>
          <a:prstGeom prst="rect">
            <a:avLst/>
          </a:prstGeom>
          <a:solidFill>
            <a:srgbClr val="B9AE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0"/>
          <p:cNvSpPr/>
          <p:nvPr/>
        </p:nvSpPr>
        <p:spPr>
          <a:xfrm>
            <a:off x="9230618" y="2123430"/>
            <a:ext cx="458688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B202D"/>
              </a:buClr>
              <a:buSzPts val="1200"/>
              <a:buFont typeface="Public Sans"/>
              <a:buNone/>
            </a:pPr>
            <a:r>
              <a:rPr b="1" i="0" lang="en-US" sz="1200" u="none" cap="none" strike="noStrike">
                <a:solidFill>
                  <a:srgbClr val="CB202D"/>
                </a:solidFill>
                <a:latin typeface="Public Sans"/>
                <a:ea typeface="Public Sans"/>
                <a:cs typeface="Public Sans"/>
                <a:sym typeface="Public Sans"/>
              </a:rPr>
              <a:t>1,797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9238109" y="2387550"/>
            <a:ext cx="367258" cy="2794000"/>
          </a:xfrm>
          <a:prstGeom prst="rect">
            <a:avLst/>
          </a:prstGeom>
          <a:solidFill>
            <a:srgbClr val="CB20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0"/>
          <p:cNvSpPr/>
          <p:nvPr/>
        </p:nvSpPr>
        <p:spPr>
          <a:xfrm>
            <a:off x="9681567" y="2641550"/>
            <a:ext cx="367258" cy="2540000"/>
          </a:xfrm>
          <a:prstGeom prst="rect">
            <a:avLst/>
          </a:prstGeom>
          <a:solidFill>
            <a:srgbClr val="B9AE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0"/>
          <p:cNvSpPr/>
          <p:nvPr/>
        </p:nvSpPr>
        <p:spPr>
          <a:xfrm>
            <a:off x="10125025" y="3448000"/>
            <a:ext cx="367258" cy="1733550"/>
          </a:xfrm>
          <a:prstGeom prst="rect">
            <a:avLst/>
          </a:prstGeom>
          <a:solidFill>
            <a:srgbClr val="B9AE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0"/>
          <p:cNvSpPr/>
          <p:nvPr/>
        </p:nvSpPr>
        <p:spPr>
          <a:xfrm>
            <a:off x="10568484" y="4324300"/>
            <a:ext cx="367258" cy="857250"/>
          </a:xfrm>
          <a:prstGeom prst="rect">
            <a:avLst/>
          </a:prstGeom>
          <a:solidFill>
            <a:srgbClr val="B9AE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0"/>
          <p:cNvSpPr/>
          <p:nvPr/>
        </p:nvSpPr>
        <p:spPr>
          <a:xfrm>
            <a:off x="11011942" y="4610050"/>
            <a:ext cx="367258" cy="571500"/>
          </a:xfrm>
          <a:prstGeom prst="rect">
            <a:avLst/>
          </a:prstGeom>
          <a:solidFill>
            <a:srgbClr val="B9AE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7" name="Google Shape;187;p10"/>
          <p:cNvCxnSpPr/>
          <p:nvPr/>
        </p:nvCxnSpPr>
        <p:spPr>
          <a:xfrm>
            <a:off x="812800" y="5391100"/>
            <a:ext cx="10566400" cy="0"/>
          </a:xfrm>
          <a:prstGeom prst="straightConnector1">
            <a:avLst/>
          </a:prstGeom>
          <a:noFill/>
          <a:ln cap="flat" cmpd="sng" w="12700">
            <a:solidFill>
              <a:srgbClr val="8578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8" name="Google Shape;188;p10"/>
          <p:cNvSpPr/>
          <p:nvPr/>
        </p:nvSpPr>
        <p:spPr>
          <a:xfrm>
            <a:off x="812800" y="5473650"/>
            <a:ext cx="1304925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524B"/>
              </a:buClr>
              <a:buSzPts val="1200"/>
              <a:buFont typeface="Public Sans"/>
              <a:buNone/>
            </a:pPr>
            <a:r>
              <a:rPr b="0" i="0" lang="en-US" sz="1200" u="none" cap="none" strike="noStrike">
                <a:solidFill>
                  <a:srgbClr val="5C524B"/>
                </a:solidFill>
                <a:latin typeface="Public Sans"/>
                <a:ea typeface="Public Sans"/>
                <a:cs typeface="Public Sans"/>
                <a:sym typeface="Public Sans"/>
              </a:rPr>
              <a:t>12 am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2143125" y="5473650"/>
            <a:ext cx="1304925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524B"/>
              </a:buClr>
              <a:buSzPts val="1200"/>
              <a:buFont typeface="Public Sans"/>
              <a:buNone/>
            </a:pPr>
            <a:r>
              <a:rPr b="0" i="0" lang="en-US" sz="1200" u="none" cap="none" strike="noStrike">
                <a:solidFill>
                  <a:srgbClr val="5C524B"/>
                </a:solidFill>
                <a:latin typeface="Public Sans"/>
                <a:ea typeface="Public Sans"/>
                <a:cs typeface="Public Sans"/>
                <a:sym typeface="Public Sans"/>
              </a:rPr>
              <a:t>3 am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3473450" y="5473650"/>
            <a:ext cx="1304925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524B"/>
              </a:buClr>
              <a:buSzPts val="1200"/>
              <a:buFont typeface="Public Sans"/>
              <a:buNone/>
            </a:pPr>
            <a:r>
              <a:rPr b="0" i="0" lang="en-US" sz="1200" u="none" cap="none" strike="noStrike">
                <a:solidFill>
                  <a:srgbClr val="5C524B"/>
                </a:solidFill>
                <a:latin typeface="Public Sans"/>
                <a:ea typeface="Public Sans"/>
                <a:cs typeface="Public Sans"/>
                <a:sym typeface="Public Sans"/>
              </a:rPr>
              <a:t>6 am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4803775" y="5473650"/>
            <a:ext cx="1304925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524B"/>
              </a:buClr>
              <a:buSzPts val="1200"/>
              <a:buFont typeface="Public Sans"/>
              <a:buNone/>
            </a:pPr>
            <a:r>
              <a:rPr b="0" i="0" lang="en-US" sz="1200" u="none" cap="none" strike="noStrike">
                <a:solidFill>
                  <a:srgbClr val="5C524B"/>
                </a:solidFill>
                <a:latin typeface="Public Sans"/>
                <a:ea typeface="Public Sans"/>
                <a:cs typeface="Public Sans"/>
                <a:sym typeface="Public Sans"/>
              </a:rPr>
              <a:t>9 am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6134100" y="5473650"/>
            <a:ext cx="1304925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B202D"/>
              </a:buClr>
              <a:buSzPts val="1200"/>
              <a:buFont typeface="Public Sans"/>
              <a:buNone/>
            </a:pPr>
            <a:r>
              <a:rPr b="1" i="0" lang="en-US" sz="1200" u="none" cap="none" strike="noStrike">
                <a:solidFill>
                  <a:srgbClr val="CB202D"/>
                </a:solidFill>
                <a:latin typeface="Public Sans"/>
                <a:ea typeface="Public Sans"/>
                <a:cs typeface="Public Sans"/>
                <a:sym typeface="Public Sans"/>
              </a:rPr>
              <a:t>12 pm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7464425" y="5473650"/>
            <a:ext cx="1304925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524B"/>
              </a:buClr>
              <a:buSzPts val="1200"/>
              <a:buFont typeface="Public Sans"/>
              <a:buNone/>
            </a:pPr>
            <a:r>
              <a:rPr b="0" i="0" lang="en-US" sz="1200" u="none" cap="none" strike="noStrike">
                <a:solidFill>
                  <a:srgbClr val="5C524B"/>
                </a:solidFill>
                <a:latin typeface="Public Sans"/>
                <a:ea typeface="Public Sans"/>
                <a:cs typeface="Public Sans"/>
                <a:sym typeface="Public Sans"/>
              </a:rPr>
              <a:t>3 pm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8794750" y="5473650"/>
            <a:ext cx="1304925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B202D"/>
              </a:buClr>
              <a:buSzPts val="1200"/>
              <a:buFont typeface="Public Sans"/>
              <a:buNone/>
            </a:pPr>
            <a:r>
              <a:rPr b="1" i="0" lang="en-US" sz="1200" u="none" cap="none" strike="noStrike">
                <a:solidFill>
                  <a:srgbClr val="CB202D"/>
                </a:solidFill>
                <a:latin typeface="Public Sans"/>
                <a:ea typeface="Public Sans"/>
                <a:cs typeface="Public Sans"/>
                <a:sym typeface="Public Sans"/>
              </a:rPr>
              <a:t>6 pm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10125075" y="5473650"/>
            <a:ext cx="1304925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524B"/>
              </a:buClr>
              <a:buSzPts val="1200"/>
              <a:buFont typeface="Public Sans"/>
              <a:buNone/>
            </a:pPr>
            <a:r>
              <a:rPr b="0" i="0" lang="en-US" sz="1200" u="none" cap="none" strike="noStrike">
                <a:solidFill>
                  <a:srgbClr val="5C524B"/>
                </a:solidFill>
                <a:latin typeface="Public Sans"/>
                <a:ea typeface="Public Sans"/>
                <a:cs typeface="Public Sans"/>
                <a:sym typeface="Public Sans"/>
              </a:rPr>
              <a:t>9 pm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812800" y="6238280"/>
            <a:ext cx="911602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6E66"/>
              </a:buClr>
              <a:buSzPts val="1200"/>
              <a:buFont typeface="Public Sans"/>
              <a:buNone/>
            </a:pPr>
            <a:r>
              <a:rPr b="0" i="0" lang="en-US" sz="1200" u="none" cap="none" strike="noStrike">
                <a:solidFill>
                  <a:srgbClr val="7A6E66"/>
                </a:solidFill>
                <a:latin typeface="Public Sans"/>
                <a:ea typeface="Public Sans"/>
                <a:cs typeface="Public Sans"/>
                <a:sym typeface="Public Sans"/>
              </a:rPr>
              <a:t>Peaks highlighted: 12–1 pm and 7–8 pm · weekdays and weekends average ~2,900 orders per day of week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8F5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"/>
          <p:cNvSpPr/>
          <p:nvPr/>
        </p:nvSpPr>
        <p:spPr>
          <a:xfrm>
            <a:off x="812800" y="812800"/>
            <a:ext cx="10883392" cy="1031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A2522"/>
              </a:buClr>
              <a:buSzPts val="3600"/>
              <a:buFont typeface="Rubik"/>
              <a:buNone/>
            </a:pPr>
            <a:r>
              <a:rPr b="1" i="0" lang="en-US" sz="3600" u="none" cap="none" strike="noStrike">
                <a:solidFill>
                  <a:srgbClr val="2A2522"/>
                </a:solidFill>
                <a:latin typeface="Rubik"/>
                <a:ea typeface="Rubik"/>
                <a:cs typeface="Rubik"/>
                <a:sym typeface="Rubik"/>
              </a:rPr>
              <a:t>Most customers order once or twice, then stop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3" name="Google Shape;203;p11"/>
          <p:cNvCxnSpPr/>
          <p:nvPr/>
        </p:nvCxnSpPr>
        <p:spPr>
          <a:xfrm>
            <a:off x="812800" y="2199580"/>
            <a:ext cx="3386634" cy="0"/>
          </a:xfrm>
          <a:prstGeom prst="straightConnector1">
            <a:avLst/>
          </a:prstGeom>
          <a:noFill/>
          <a:ln cap="flat" cmpd="sng" w="50800">
            <a:solidFill>
              <a:srgbClr val="CB202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4" name="Google Shape;204;p11"/>
          <p:cNvSpPr/>
          <p:nvPr/>
        </p:nvSpPr>
        <p:spPr>
          <a:xfrm>
            <a:off x="812800" y="2377380"/>
            <a:ext cx="3488233" cy="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202D"/>
              </a:buClr>
              <a:buSzPts val="6000"/>
              <a:buFont typeface="Rubik"/>
              <a:buNone/>
            </a:pPr>
            <a:r>
              <a:rPr b="1" i="0" lang="en-US" sz="6000" u="none" cap="none" strike="noStrike">
                <a:solidFill>
                  <a:srgbClr val="CB202D"/>
                </a:solidFill>
                <a:latin typeface="Rubik"/>
                <a:ea typeface="Rubik"/>
                <a:cs typeface="Rubik"/>
                <a:sym typeface="Rubik"/>
              </a:rPr>
              <a:t>38%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812800" y="3215580"/>
            <a:ext cx="3488233" cy="59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524B"/>
              </a:buClr>
              <a:buSzPts val="1600"/>
              <a:buFont typeface="Public Sans"/>
              <a:buNone/>
            </a:pPr>
            <a:r>
              <a:rPr b="0" i="0" lang="en-US" sz="1600" u="none" cap="none" strike="noStrike">
                <a:solidFill>
                  <a:srgbClr val="5C524B"/>
                </a:solidFill>
                <a:latin typeface="Public Sans"/>
                <a:ea typeface="Public Sans"/>
                <a:cs typeface="Public Sans"/>
                <a:sym typeface="Public Sans"/>
              </a:rPr>
              <a:t>of 9,827 customers ordered only once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6" name="Google Shape;206;p11"/>
          <p:cNvCxnSpPr/>
          <p:nvPr/>
        </p:nvCxnSpPr>
        <p:spPr>
          <a:xfrm>
            <a:off x="4402634" y="2199580"/>
            <a:ext cx="3386683" cy="0"/>
          </a:xfrm>
          <a:prstGeom prst="straightConnector1">
            <a:avLst/>
          </a:prstGeom>
          <a:noFill/>
          <a:ln cap="flat" cmpd="sng" w="50800">
            <a:solidFill>
              <a:srgbClr val="CB202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7" name="Google Shape;207;p11"/>
          <p:cNvSpPr/>
          <p:nvPr/>
        </p:nvSpPr>
        <p:spPr>
          <a:xfrm>
            <a:off x="4402634" y="2377380"/>
            <a:ext cx="3488284" cy="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202D"/>
              </a:buClr>
              <a:buSzPts val="6000"/>
              <a:buFont typeface="Rubik"/>
              <a:buNone/>
            </a:pPr>
            <a:r>
              <a:rPr b="1" i="0" lang="en-US" sz="6000" u="none" cap="none" strike="noStrike">
                <a:solidFill>
                  <a:srgbClr val="CB202D"/>
                </a:solidFill>
                <a:latin typeface="Rubik"/>
                <a:ea typeface="Rubik"/>
                <a:cs typeface="Rubik"/>
                <a:sym typeface="Rubik"/>
              </a:rPr>
              <a:t>87%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1"/>
          <p:cNvSpPr/>
          <p:nvPr/>
        </p:nvSpPr>
        <p:spPr>
          <a:xfrm>
            <a:off x="4402634" y="3215580"/>
            <a:ext cx="3488284" cy="59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524B"/>
              </a:buClr>
              <a:buSzPts val="1600"/>
              <a:buFont typeface="Public Sans"/>
              <a:buNone/>
            </a:pPr>
            <a:r>
              <a:rPr b="0" i="0" lang="en-US" sz="1600" u="none" cap="none" strike="noStrike">
                <a:solidFill>
                  <a:srgbClr val="5C524B"/>
                </a:solidFill>
                <a:latin typeface="Public Sans"/>
                <a:ea typeface="Public Sans"/>
                <a:cs typeface="Public Sans"/>
                <a:sym typeface="Public Sans"/>
              </a:rPr>
              <a:t>had no order in the last 60 days (churned)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9" name="Google Shape;209;p11"/>
          <p:cNvCxnSpPr/>
          <p:nvPr/>
        </p:nvCxnSpPr>
        <p:spPr>
          <a:xfrm>
            <a:off x="7992517" y="2199580"/>
            <a:ext cx="3386634" cy="0"/>
          </a:xfrm>
          <a:prstGeom prst="straightConnector1">
            <a:avLst/>
          </a:prstGeom>
          <a:noFill/>
          <a:ln cap="flat" cmpd="sng" w="50800">
            <a:solidFill>
              <a:srgbClr val="B9AEA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0" name="Google Shape;210;p11"/>
          <p:cNvSpPr/>
          <p:nvPr/>
        </p:nvSpPr>
        <p:spPr>
          <a:xfrm>
            <a:off x="7992517" y="2377380"/>
            <a:ext cx="3488233" cy="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522"/>
              </a:buClr>
              <a:buSzPts val="6000"/>
              <a:buFont typeface="Rubik"/>
              <a:buNone/>
            </a:pPr>
            <a:r>
              <a:rPr b="1" i="0" lang="en-US" sz="6000" u="none" cap="none" strike="noStrike">
                <a:solidFill>
                  <a:srgbClr val="2A2522"/>
                </a:solidFill>
                <a:latin typeface="Rubik"/>
                <a:ea typeface="Rubik"/>
                <a:cs typeface="Rubik"/>
                <a:sym typeface="Rubik"/>
              </a:rPr>
              <a:t>2.1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7992517" y="3215580"/>
            <a:ext cx="3488233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524B"/>
              </a:buClr>
              <a:buSzPts val="1600"/>
              <a:buFont typeface="Public Sans"/>
              <a:buNone/>
            </a:pPr>
            <a:r>
              <a:rPr b="0" i="0" lang="en-US" sz="1600" u="none" cap="none" strike="noStrike">
                <a:solidFill>
                  <a:srgbClr val="5C524B"/>
                </a:solidFill>
                <a:latin typeface="Public Sans"/>
                <a:ea typeface="Public Sans"/>
                <a:cs typeface="Public Sans"/>
                <a:sym typeface="Public Sans"/>
              </a:rPr>
              <a:t>orders per customer over two years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812800" y="4140101"/>
            <a:ext cx="5232400" cy="26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A2522"/>
              </a:buClr>
              <a:buSzPts val="1600"/>
              <a:buFont typeface="Public Sans"/>
              <a:buNone/>
            </a:pPr>
            <a:r>
              <a:rPr b="1" i="0" lang="en-US" sz="1600" u="none" cap="none" strike="noStrike">
                <a:solidFill>
                  <a:srgbClr val="2A2522"/>
                </a:solidFill>
                <a:latin typeface="Public Sans"/>
                <a:ea typeface="Public Sans"/>
                <a:cs typeface="Public Sans"/>
                <a:sym typeface="Public Sans"/>
              </a:rPr>
              <a:t>Membership doesn’t lift basket size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812800" y="4460131"/>
            <a:ext cx="5232400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524B"/>
              </a:buClr>
              <a:buSzPts val="1600"/>
              <a:buFont typeface="Public Sans"/>
              <a:buNone/>
            </a:pPr>
            <a:r>
              <a:rPr b="0" i="0" lang="en-US" sz="1600" u="none" cap="none" strike="noStrike">
                <a:solidFill>
                  <a:srgbClr val="5C524B"/>
                </a:solidFill>
                <a:latin typeface="Public Sans"/>
                <a:ea typeface="Public Sans"/>
                <a:cs typeface="Public Sans"/>
                <a:sym typeface="Public Sans"/>
              </a:rPr>
              <a:t>Avg order: Basic ₹394 · Gold ₹390 · Pro ₹389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1"/>
          <p:cNvSpPr/>
          <p:nvPr/>
        </p:nvSpPr>
        <p:spPr>
          <a:xfrm>
            <a:off x="6299200" y="4140101"/>
            <a:ext cx="5232400" cy="26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A2522"/>
              </a:buClr>
              <a:buSzPts val="1600"/>
              <a:buFont typeface="Public Sans"/>
              <a:buNone/>
            </a:pPr>
            <a:r>
              <a:rPr b="1" i="0" lang="en-US" sz="1600" u="none" cap="none" strike="noStrike">
                <a:solidFill>
                  <a:srgbClr val="2A2522"/>
                </a:solidFill>
                <a:latin typeface="Public Sans"/>
                <a:ea typeface="Public Sans"/>
                <a:cs typeface="Public Sans"/>
                <a:sym typeface="Public Sans"/>
              </a:rPr>
              <a:t>Coupons don’t reduce failures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6299200" y="4460131"/>
            <a:ext cx="5232400" cy="59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524B"/>
              </a:buClr>
              <a:buSzPts val="1600"/>
              <a:buFont typeface="Public Sans"/>
              <a:buNone/>
            </a:pPr>
            <a:r>
              <a:rPr b="0" i="0" lang="en-US" sz="1600" u="none" cap="none" strike="noStrike">
                <a:solidFill>
                  <a:srgbClr val="5C524B"/>
                </a:solidFill>
                <a:latin typeface="Public Sans"/>
                <a:ea typeface="Public Sans"/>
                <a:cs typeface="Public Sans"/>
                <a:sym typeface="Public Sans"/>
              </a:rPr>
              <a:t>35% of orders used one (₹7.6L discounts); they failed at 33.6% vs 34.0%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812800" y="6238280"/>
            <a:ext cx="8545413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6E66"/>
              </a:buClr>
              <a:buSzPts val="1200"/>
              <a:buFont typeface="Public Sans"/>
              <a:buNone/>
            </a:pPr>
            <a:r>
              <a:t/>
            </a:r>
            <a:endParaRPr sz="1200">
              <a:solidFill>
                <a:srgbClr val="7A6E66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6E66"/>
              </a:buClr>
              <a:buSzPts val="1200"/>
              <a:buFont typeface="Public Sans"/>
              <a:buNone/>
            </a:pPr>
            <a:r>
              <a:t/>
            </a:r>
            <a:endParaRPr sz="1200">
              <a:solidFill>
                <a:srgbClr val="7A6E66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EAE3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2"/>
          <p:cNvSpPr/>
          <p:nvPr/>
        </p:nvSpPr>
        <p:spPr>
          <a:xfrm>
            <a:off x="812800" y="812800"/>
            <a:ext cx="10883392" cy="52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A2522"/>
              </a:buClr>
              <a:buSzPts val="3600"/>
              <a:buFont typeface="Rubik"/>
              <a:buNone/>
            </a:pPr>
            <a:r>
              <a:rPr b="1" i="0" lang="en-US" sz="3600" u="none" cap="none" strike="noStrike">
                <a:solidFill>
                  <a:srgbClr val="2A2522"/>
                </a:solidFill>
                <a:latin typeface="Rubik"/>
                <a:ea typeface="Rubik"/>
                <a:cs typeface="Rubik"/>
                <a:sym typeface="Rubik"/>
              </a:rPr>
              <a:t>Neither model beats a simple baseline yet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3" name="Google Shape;223;p12"/>
          <p:cNvGraphicFramePr/>
          <p:nvPr/>
        </p:nvGraphicFramePr>
        <p:xfrm>
          <a:off x="825500" y="16331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{A9B7608F-611E-48DE-8039-6A201CF00292}</a:tableStyleId>
              </a:tblPr>
              <a:tblGrid>
                <a:gridCol w="2532900"/>
                <a:gridCol w="2321825"/>
                <a:gridCol w="3166100"/>
                <a:gridCol w="2532900"/>
              </a:tblGrid>
              <a:tr h="386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2522"/>
                        </a:buClr>
                        <a:buSzPts val="1400"/>
                        <a:buFont typeface="Public Sans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A2522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Model</a:t>
                      </a:r>
                      <a:endParaRPr sz="1400" u="none" cap="none" strike="noStrike"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0BB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AE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AE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D9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2522"/>
                        </a:buClr>
                        <a:buSzPts val="1400"/>
                        <a:buFont typeface="Public Sans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A2522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PRD target</a:t>
                      </a:r>
                      <a:endParaRPr sz="1400" u="none" cap="none" strike="noStrike"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B2AE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AE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AE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D9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2522"/>
                        </a:buClr>
                        <a:buSzPts val="1400"/>
                        <a:buFont typeface="Public Sans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A2522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Best result</a:t>
                      </a:r>
                      <a:endParaRPr sz="1400" u="none" cap="none" strike="noStrike"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B2AE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AE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AE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D9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2522"/>
                        </a:buClr>
                        <a:buSzPts val="1400"/>
                        <a:buFont typeface="Public Sans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A2522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Naive baseline</a:t>
                      </a:r>
                      <a:endParaRPr sz="1400" u="none" cap="none" strike="noStrike"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B2AE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2AE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0BB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2AE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D9D2"/>
                    </a:solidFill>
                  </a:tcPr>
                </a:tc>
              </a:tr>
              <a:tr h="386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2522"/>
                        </a:buClr>
                        <a:buSzPts val="1400"/>
                        <a:buFont typeface="Public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2A2522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Delivery time · 7 models</a:t>
                      </a:r>
                      <a:endParaRPr sz="1400" u="none" cap="none" strike="noStrike"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0BB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AE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2522"/>
                        </a:buClr>
                        <a:buSzPts val="1400"/>
                        <a:buFont typeface="Public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2A2522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R² ≥ 0.75, RMSE ≤ 6 min</a:t>
                      </a:r>
                      <a:endParaRPr sz="1400" u="none" cap="none" strike="noStrike"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AE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2522"/>
                        </a:buClr>
                        <a:buSzPts val="1400"/>
                        <a:buFont typeface="Public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2A2522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R² 0.00, RMSE 14.9 min</a:t>
                      </a:r>
                      <a:endParaRPr sz="1400" u="none" cap="none" strike="noStrike"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AE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2522"/>
                        </a:buClr>
                        <a:buSzPts val="1400"/>
                        <a:buFont typeface="Public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2A2522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RMSE 14.9 min (average)</a:t>
                      </a:r>
                      <a:endParaRPr sz="1400" u="none" cap="none" strike="noStrike"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2AE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8F5"/>
                    </a:solidFill>
                  </a:tcPr>
                </a:tc>
              </a:tr>
              <a:tr h="386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2522"/>
                        </a:buClr>
                        <a:buSzPts val="1400"/>
                        <a:buFont typeface="Public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2A2522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Churn · 5 models</a:t>
                      </a:r>
                      <a:endParaRPr sz="1400" u="none" cap="none" strike="noStrike"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0BB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BB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BB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2522"/>
                        </a:buClr>
                        <a:buSzPts val="1400"/>
                        <a:buFont typeface="Public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2A2522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F1 ≥ 0.70</a:t>
                      </a:r>
                      <a:endParaRPr sz="1400" u="none" cap="none" strike="noStrike"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0BB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BB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BB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2522"/>
                        </a:buClr>
                        <a:buSzPts val="1400"/>
                        <a:buFont typeface="Public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2A2522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F1 0.83, ROC-AUC 0.54</a:t>
                      </a:r>
                      <a:endParaRPr sz="1400" u="none" cap="none" strike="noStrike"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0BB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BB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BB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2522"/>
                        </a:buClr>
                        <a:buSzPts val="1400"/>
                        <a:buFont typeface="Public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2A2522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F1 0.93 (everyone churns)</a:t>
                      </a:r>
                      <a:endParaRPr sz="1400" u="none" cap="none" strike="noStrike"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0BB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0BB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0BB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4" name="Google Shape;224;p12"/>
          <p:cNvSpPr/>
          <p:nvPr/>
        </p:nvSpPr>
        <p:spPr>
          <a:xfrm>
            <a:off x="812800" y="3096022"/>
            <a:ext cx="5232400" cy="26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A2522"/>
              </a:buClr>
              <a:buSzPts val="1600"/>
              <a:buFont typeface="Public Sans"/>
              <a:buNone/>
            </a:pPr>
            <a:r>
              <a:rPr b="1" i="0" lang="en-US" sz="1600" u="none" cap="none" strike="noStrike">
                <a:solidFill>
                  <a:srgbClr val="2A2522"/>
                </a:solidFill>
                <a:latin typeface="Public Sans"/>
                <a:ea typeface="Public Sans"/>
                <a:cs typeface="Public Sans"/>
                <a:sym typeface="Public Sans"/>
              </a:rPr>
              <a:t>Still useful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2"/>
          <p:cNvSpPr/>
          <p:nvPr/>
        </p:nvSpPr>
        <p:spPr>
          <a:xfrm>
            <a:off x="812800" y="3416052"/>
            <a:ext cx="5232400" cy="772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524B"/>
              </a:buClr>
              <a:buSzPts val="1400"/>
              <a:buFont typeface="Public Sans"/>
              <a:buNone/>
            </a:pPr>
            <a:r>
              <a:rPr b="0" i="0" lang="en-US" sz="1400" u="none" cap="none" strike="noStrike">
                <a:solidFill>
                  <a:srgbClr val="5C524B"/>
                </a:solidFill>
                <a:latin typeface="Public Sans"/>
                <a:ea typeface="Public Sans"/>
                <a:cs typeface="Public Sans"/>
                <a:sym typeface="Public Sans"/>
              </a:rPr>
              <a:t>Delivery time is driven most by partner efficiency (46%), food cost, order hour and prep time. Weather and traffic barely register.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2"/>
          <p:cNvSpPr/>
          <p:nvPr/>
        </p:nvSpPr>
        <p:spPr>
          <a:xfrm>
            <a:off x="6299200" y="3096022"/>
            <a:ext cx="5232400" cy="26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A2522"/>
              </a:buClr>
              <a:buSzPts val="1600"/>
              <a:buFont typeface="Public Sans"/>
              <a:buNone/>
            </a:pPr>
            <a:r>
              <a:rPr b="1" i="0" lang="en-US" sz="1600" u="none" cap="none" strike="noStrike">
                <a:solidFill>
                  <a:srgbClr val="2A2522"/>
                </a:solidFill>
                <a:latin typeface="Public Sans"/>
                <a:ea typeface="Public Sans"/>
                <a:cs typeface="Public Sans"/>
                <a:sym typeface="Public Sans"/>
              </a:rPr>
              <a:t>Why they fall short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2"/>
          <p:cNvSpPr/>
          <p:nvPr/>
        </p:nvSpPr>
        <p:spPr>
          <a:xfrm>
            <a:off x="6299200" y="3416052"/>
            <a:ext cx="5232400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524B"/>
              </a:buClr>
              <a:buSzPts val="1400"/>
              <a:buFont typeface="Public Sans"/>
              <a:buNone/>
            </a:pPr>
            <a:r>
              <a:rPr b="0" i="0" lang="en-US" sz="1400" u="none" cap="none" strike="noStrike">
                <a:solidFill>
                  <a:srgbClr val="5C524B"/>
                </a:solidFill>
                <a:latin typeface="Public Sans"/>
                <a:ea typeface="Public Sans"/>
                <a:cs typeface="Public Sans"/>
                <a:sym typeface="Public Sans"/>
              </a:rPr>
              <a:t>The data has no promised delivery time, kitchen wait time, partner location or cancellation reason.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2"/>
          <p:cNvSpPr/>
          <p:nvPr/>
        </p:nvSpPr>
        <p:spPr>
          <a:xfrm>
            <a:off x="812800" y="6238280"/>
            <a:ext cx="792527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6E66"/>
              </a:buClr>
              <a:buSzPts val="1200"/>
              <a:buFont typeface="Public Sans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8F5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3"/>
          <p:cNvSpPr/>
          <p:nvPr/>
        </p:nvSpPr>
        <p:spPr>
          <a:xfrm>
            <a:off x="812800" y="812800"/>
            <a:ext cx="10883392" cy="52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A2522"/>
              </a:buClr>
              <a:buSzPts val="3600"/>
              <a:buFont typeface="Rubik"/>
              <a:buNone/>
            </a:pPr>
            <a:r>
              <a:rPr b="1" i="0" lang="en-US" sz="3600" u="none" cap="none" strike="noStrike">
                <a:solidFill>
                  <a:srgbClr val="2A2522"/>
                </a:solidFill>
                <a:latin typeface="Rubik"/>
                <a:ea typeface="Rubik"/>
                <a:cs typeface="Rubik"/>
                <a:sym typeface="Rubik"/>
              </a:rPr>
              <a:t>Six recommendations, by owner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5" name="Google Shape;235;p13"/>
          <p:cNvGraphicFramePr/>
          <p:nvPr/>
        </p:nvGraphicFramePr>
        <p:xfrm>
          <a:off x="825500" y="15823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{A9B7608F-611E-48DE-8039-6A201CF00292}</a:tableStyleId>
              </a:tblPr>
              <a:tblGrid>
                <a:gridCol w="527675"/>
                <a:gridCol w="6332225"/>
                <a:gridCol w="3693800"/>
              </a:tblGrid>
              <a:tr h="359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2522"/>
                        </a:buClr>
                        <a:buSzPts val="1300"/>
                        <a:buFont typeface="Public San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2A2522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#</a:t>
                      </a:r>
                      <a:endParaRPr sz="1300" u="none" cap="none" strike="noStrike"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AB8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B8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6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2522"/>
                        </a:buClr>
                        <a:buSzPts val="1300"/>
                        <a:buFont typeface="Public San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2A2522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Action</a:t>
                      </a:r>
                      <a:endParaRPr sz="1300" u="none" cap="none" strike="noStrike"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BAB8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AB8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B8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6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2522"/>
                        </a:buClr>
                        <a:buSzPts val="1300"/>
                        <a:buFont typeface="Public San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2A2522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Owner</a:t>
                      </a:r>
                      <a:endParaRPr sz="1300" u="none" cap="none" strike="noStrike"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BAB8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AB8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B8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6E3"/>
                    </a:solidFill>
                  </a:tcPr>
                </a:tc>
              </a:tr>
              <a:tr h="590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2522"/>
                        </a:buClr>
                        <a:buSzPts val="1300"/>
                        <a:buFont typeface="Public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A2522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1</a:t>
                      </a:r>
                      <a:endParaRPr sz="1300" u="none" cap="none" strike="noStrike"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A9A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B8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A9A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D3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2522"/>
                        </a:buClr>
                        <a:buSzPts val="1300"/>
                        <a:buFont typeface="Public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A2522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30-day quality review for the bottom-10 restaurants per city; target cancellations under 20%</a:t>
                      </a:r>
                      <a:endParaRPr sz="1300" u="none" cap="none" strike="noStrike"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4A9A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A9A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B8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A9A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D3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2522"/>
                        </a:buClr>
                        <a:buSzPts val="1300"/>
                        <a:buFont typeface="Public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A2522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Restaurant Partnerships</a:t>
                      </a:r>
                      <a:endParaRPr sz="1300" u="none" cap="none" strike="noStrike"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4A9A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A9A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B8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A9A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D3D6"/>
                    </a:solidFill>
                  </a:tcPr>
                </a:tc>
              </a:tr>
              <a:tr h="359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2522"/>
                        </a:buClr>
                        <a:buSzPts val="1300"/>
                        <a:buFont typeface="Public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A2522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2</a:t>
                      </a:r>
                      <a:endParaRPr sz="1300" u="none" cap="none" strike="noStrike"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A9A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A9A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A9A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D3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2522"/>
                        </a:buClr>
                        <a:buSzPts val="1300"/>
                        <a:buFont typeface="Public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A2522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Find the root cause of “Food Not Delivered” (11.5% of orders, ₹9.3L)</a:t>
                      </a:r>
                      <a:endParaRPr sz="1300" u="none" cap="none" strike="noStrike"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4A9A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A9A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A9A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A9A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D3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2522"/>
                        </a:buClr>
                        <a:buSzPts val="1300"/>
                        <a:buFont typeface="Public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A2522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City Operations</a:t>
                      </a:r>
                      <a:endParaRPr sz="1300" u="none" cap="none" strike="noStrike"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4A9A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A9A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A9A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A9A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D3D6"/>
                    </a:solidFill>
                  </a:tcPr>
                </a:tc>
              </a:tr>
              <a:tr h="359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2522"/>
                        </a:buClr>
                        <a:buSzPts val="1300"/>
                        <a:buFont typeface="Public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A2522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3</a:t>
                      </a:r>
                      <a:endParaRPr sz="1300" u="none" cap="none" strike="noStrike"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A9A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2522"/>
                        </a:buClr>
                        <a:buSzPts val="1300"/>
                        <a:buFont typeface="Public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A2522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Pilot extra partners at 12–1 pm and 7–8 pm in Ludhiana and Nagpur</a:t>
                      </a:r>
                      <a:endParaRPr sz="1300" u="none" cap="none" strike="noStrike"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A9A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2522"/>
                        </a:buClr>
                        <a:buSzPts val="1300"/>
                        <a:buFont typeface="Public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A2522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City Operations</a:t>
                      </a:r>
                      <a:endParaRPr sz="1300" u="none" cap="none" strike="noStrike"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A9A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2522"/>
                        </a:buClr>
                        <a:buSzPts val="1300"/>
                        <a:buFont typeface="Public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A2522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4</a:t>
                      </a:r>
                      <a:endParaRPr sz="1300" u="none" cap="none" strike="noStrike"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2522"/>
                        </a:buClr>
                        <a:buSzPts val="1300"/>
                        <a:buFont typeface="Public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A2522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Second-order offer within 14 days of a first order</a:t>
                      </a:r>
                      <a:endParaRPr sz="1300" u="none" cap="none" strike="noStrike"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2522"/>
                        </a:buClr>
                        <a:buSzPts val="1300"/>
                        <a:buFont typeface="Public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A2522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Growth Marketing</a:t>
                      </a:r>
                      <a:endParaRPr sz="1300" u="none" cap="none" strike="noStrike"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2522"/>
                        </a:buClr>
                        <a:buSzPts val="1300"/>
                        <a:buFont typeface="Public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A2522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5</a:t>
                      </a:r>
                      <a:endParaRPr sz="1300" u="none" cap="none" strike="noStrike"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2522"/>
                        </a:buClr>
                        <a:buSzPts val="1300"/>
                        <a:buFont typeface="Public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A2522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Target win-back at the 2,108 At Risk and Needs Attention customers</a:t>
                      </a:r>
                      <a:endParaRPr sz="1300" u="none" cap="none" strike="noStrike"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2522"/>
                        </a:buClr>
                        <a:buSzPts val="1300"/>
                        <a:buFont typeface="Public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A2522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Growth Marketing</a:t>
                      </a:r>
                      <a:endParaRPr sz="1300" u="none" cap="none" strike="noStrike"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2522"/>
                        </a:buClr>
                        <a:buSzPts val="1300"/>
                        <a:buFont typeface="Public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A2522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6</a:t>
                      </a:r>
                      <a:endParaRPr sz="1300" u="none" cap="none" strike="noStrike"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2522"/>
                        </a:buClr>
                        <a:buSzPts val="1300"/>
                        <a:buFont typeface="Public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A2522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Review what Gold and Pro give members</a:t>
                      </a:r>
                      <a:endParaRPr sz="1300" u="none" cap="none" strike="noStrike"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2522"/>
                        </a:buClr>
                        <a:buSzPts val="1300"/>
                        <a:buFont typeface="Public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2A2522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Growth Marketing, Finance</a:t>
                      </a:r>
                      <a:endParaRPr sz="1300" u="none" cap="none" strike="noStrike"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C6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6" name="Google Shape;236;p13"/>
          <p:cNvSpPr/>
          <p:nvPr/>
        </p:nvSpPr>
        <p:spPr>
          <a:xfrm>
            <a:off x="812800" y="6238280"/>
            <a:ext cx="5892641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6E66"/>
              </a:buClr>
              <a:buSzPts val="1200"/>
              <a:buFont typeface="Public Sans"/>
              <a:buNone/>
            </a:pPr>
            <a:r>
              <a:rPr b="0" i="0" lang="en-US" sz="1200" u="none" cap="none" strike="noStrike">
                <a:solidFill>
                  <a:srgbClr val="7A6E66"/>
                </a:solidFill>
                <a:latin typeface="Public Sans"/>
                <a:ea typeface="Public Sans"/>
                <a:cs typeface="Public Sans"/>
                <a:sym typeface="Public Sans"/>
              </a:rPr>
              <a:t>Highlighted rows = priority · details in the Business Insights Report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B202D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4"/>
          <p:cNvSpPr/>
          <p:nvPr/>
        </p:nvSpPr>
        <p:spPr>
          <a:xfrm>
            <a:off x="812800" y="1418630"/>
            <a:ext cx="10883392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BF8F5"/>
              </a:buClr>
              <a:buSzPts val="1600"/>
              <a:buFont typeface="Public Sans"/>
              <a:buNone/>
            </a:pPr>
            <a:r>
              <a:rPr b="1" i="0" lang="en-US" sz="1600" u="none" cap="none" strike="noStrike">
                <a:solidFill>
                  <a:srgbClr val="FBF8F5"/>
                </a:solidFill>
                <a:latin typeface="Public Sans"/>
                <a:ea typeface="Public Sans"/>
                <a:cs typeface="Public Sans"/>
                <a:sym typeface="Public Sans"/>
              </a:rPr>
              <a:t>THE ASK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4"/>
          <p:cNvSpPr/>
          <p:nvPr/>
        </p:nvSpPr>
        <p:spPr>
          <a:xfrm>
            <a:off x="812800" y="2007890"/>
            <a:ext cx="10137775" cy="24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BF8F5"/>
              </a:buClr>
              <a:buSzPts val="6000"/>
              <a:buFont typeface="Rubik"/>
              <a:buNone/>
            </a:pPr>
            <a:r>
              <a:rPr b="1" i="0" lang="en-US" sz="6000" u="none" cap="none" strike="noStrike">
                <a:solidFill>
                  <a:srgbClr val="FBF8F5"/>
                </a:solidFill>
                <a:latin typeface="Rubik"/>
                <a:ea typeface="Rubik"/>
                <a:cs typeface="Rubik"/>
                <a:sym typeface="Rubik"/>
              </a:rPr>
              <a:t>Fix order failures first, starting with 250 restaurants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4"/>
          <p:cNvSpPr/>
          <p:nvPr/>
        </p:nvSpPr>
        <p:spPr>
          <a:xfrm>
            <a:off x="812800" y="4712990"/>
            <a:ext cx="9156700" cy="751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BF8F5"/>
              </a:buClr>
              <a:buSzPts val="2200"/>
              <a:buFont typeface="Public Sans"/>
              <a:buNone/>
            </a:pPr>
            <a:r>
              <a:rPr b="0" i="0" lang="en-US" sz="2200" u="none" cap="none" strike="noStrike">
                <a:solidFill>
                  <a:srgbClr val="FBF8F5"/>
                </a:solidFill>
                <a:latin typeface="Public Sans"/>
                <a:ea typeface="Public Sans"/>
                <a:cs typeface="Public Sans"/>
                <a:sym typeface="Public Sans"/>
              </a:rPr>
              <a:t>Failures cost ₹27.1 lakh in two years. The bottom-band list already exists and refreshes every pipeline run.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EAE3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5"/>
          <p:cNvSpPr/>
          <p:nvPr/>
        </p:nvSpPr>
        <p:spPr>
          <a:xfrm>
            <a:off x="812800" y="812800"/>
            <a:ext cx="10883392" cy="52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A2522"/>
              </a:buClr>
              <a:buSzPts val="3600"/>
              <a:buFont typeface="Rubik"/>
              <a:buNone/>
            </a:pPr>
            <a:r>
              <a:rPr b="1" i="0" lang="en-US" sz="3600" u="none" cap="none" strike="noStrike">
                <a:solidFill>
                  <a:srgbClr val="2A2522"/>
                </a:solidFill>
                <a:latin typeface="Rubik"/>
                <a:ea typeface="Rubik"/>
                <a:cs typeface="Rubik"/>
                <a:sym typeface="Rubik"/>
              </a:rPr>
              <a:t>Next steps and limitations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5"/>
          <p:cNvSpPr/>
          <p:nvPr/>
        </p:nvSpPr>
        <p:spPr>
          <a:xfrm>
            <a:off x="812800" y="2031940"/>
            <a:ext cx="52323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B202D"/>
              </a:buClr>
              <a:buSzPts val="2200"/>
              <a:buFont typeface="Public Sans"/>
              <a:buNone/>
            </a:pPr>
            <a:r>
              <a:rPr b="1" i="0" lang="en-US" sz="2200" u="none" cap="none" strike="noStrike">
                <a:solidFill>
                  <a:srgbClr val="CB202D"/>
                </a:solidFill>
                <a:latin typeface="Public Sans"/>
                <a:ea typeface="Public Sans"/>
                <a:cs typeface="Public Sans"/>
                <a:sym typeface="Public Sans"/>
              </a:rPr>
              <a:t>Next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5"/>
          <p:cNvSpPr/>
          <p:nvPr/>
        </p:nvSpPr>
        <p:spPr>
          <a:xfrm>
            <a:off x="817350" y="2832838"/>
            <a:ext cx="5223300" cy="19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52611" lvl="0" marL="25261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A2522"/>
              </a:buClr>
              <a:buSzPts val="1600"/>
              <a:buFont typeface="Public Sans"/>
              <a:buAutoNum type="arabicPeriod"/>
            </a:pPr>
            <a:r>
              <a:rPr b="0" i="0" lang="en-US" sz="1600" u="none" cap="none" strike="noStrike">
                <a:solidFill>
                  <a:srgbClr val="2A2522"/>
                </a:solidFill>
                <a:latin typeface="Public Sans"/>
                <a:ea typeface="Public Sans"/>
                <a:cs typeface="Public Sans"/>
                <a:sym typeface="Public Sans"/>
              </a:rPr>
              <a:t>Add cancellation reasons and promised delivery time to the feed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2611" lvl="0" marL="25261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A2522"/>
              </a:buClr>
              <a:buSzPts val="1600"/>
              <a:buFont typeface="Public Sans"/>
              <a:buAutoNum type="arabicPeriod"/>
            </a:pPr>
            <a:r>
              <a:rPr b="0" i="0" lang="en-US" sz="1600" u="none" cap="none" strike="noStrike">
                <a:solidFill>
                  <a:srgbClr val="2A2522"/>
                </a:solidFill>
                <a:latin typeface="Public Sans"/>
                <a:ea typeface="Public Sans"/>
                <a:cs typeface="Public Sans"/>
                <a:sym typeface="Public Sans"/>
              </a:rPr>
              <a:t>Retrain both models on the new fields against the same baselines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2611" lvl="0" marL="25261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A2522"/>
              </a:buClr>
              <a:buSzPts val="1600"/>
              <a:buFont typeface="Public Sans"/>
              <a:buAutoNum type="arabicPeriod"/>
            </a:pPr>
            <a:r>
              <a:rPr b="0" i="0" lang="en-US" sz="1600" u="none" cap="none" strike="noStrike">
                <a:solidFill>
                  <a:srgbClr val="2A2522"/>
                </a:solidFill>
                <a:latin typeface="Public Sans"/>
                <a:ea typeface="Public Sans"/>
                <a:cs typeface="Public Sans"/>
                <a:sym typeface="Public Sans"/>
              </a:rPr>
              <a:t>Rescore restaurants monthly and track the bottom band after review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5"/>
          <p:cNvSpPr/>
          <p:nvPr/>
        </p:nvSpPr>
        <p:spPr>
          <a:xfrm>
            <a:off x="6299250" y="2031940"/>
            <a:ext cx="52323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A2522"/>
              </a:buClr>
              <a:buSzPts val="2200"/>
              <a:buFont typeface="Public Sans"/>
              <a:buNone/>
            </a:pPr>
            <a:r>
              <a:rPr b="1" i="0" lang="en-US" sz="2200" u="none" cap="none" strike="noStrike">
                <a:solidFill>
                  <a:srgbClr val="2A2522"/>
                </a:solidFill>
                <a:latin typeface="Public Sans"/>
                <a:ea typeface="Public Sans"/>
                <a:cs typeface="Public Sans"/>
                <a:sym typeface="Public Sans"/>
              </a:rPr>
              <a:t>Keep in mind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5"/>
          <p:cNvSpPr/>
          <p:nvPr/>
        </p:nvSpPr>
        <p:spPr>
          <a:xfrm>
            <a:off x="6338246" y="2832850"/>
            <a:ext cx="51543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83642" lvl="0" marL="18364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524B"/>
              </a:buClr>
              <a:buSzPts val="1600"/>
              <a:buFont typeface="Public Sans"/>
              <a:buChar char="•"/>
            </a:pPr>
            <a:r>
              <a:rPr b="0" i="0" lang="en-US" sz="1600" u="none" cap="none" strike="noStrike">
                <a:solidFill>
                  <a:srgbClr val="5C524B"/>
                </a:solidFill>
                <a:latin typeface="Public Sans"/>
                <a:ea typeface="Public Sans"/>
                <a:cs typeface="Public Sans"/>
                <a:sym typeface="Public Sans"/>
              </a:rPr>
              <a:t>“Late” comes from order status, not a promised time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3642" lvl="0" marL="18364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524B"/>
              </a:buClr>
              <a:buSzPts val="1600"/>
              <a:buFont typeface="Public Sans"/>
              <a:buChar char="•"/>
            </a:pPr>
            <a:r>
              <a:rPr b="0" i="0" lang="en-US" sz="1600" u="none" cap="none" strike="noStrike">
                <a:solidFill>
                  <a:srgbClr val="5C524B"/>
                </a:solidFill>
                <a:latin typeface="Public Sans"/>
                <a:ea typeface="Public Sans"/>
                <a:cs typeface="Public Sans"/>
                <a:sym typeface="Public Sans"/>
              </a:rPr>
              <a:t>Weather and traffic are daily city averages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3642" lvl="0" marL="18364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524B"/>
              </a:buClr>
              <a:buSzPts val="1600"/>
              <a:buFont typeface="Public Sans"/>
              <a:buChar char="•"/>
            </a:pPr>
            <a:r>
              <a:rPr b="0" i="0" lang="en-US" sz="1600" u="none" cap="none" strike="noStrike">
                <a:solidFill>
                  <a:srgbClr val="5C524B"/>
                </a:solidFill>
                <a:latin typeface="Public Sans"/>
                <a:ea typeface="Public Sans"/>
                <a:cs typeface="Public Sans"/>
                <a:sym typeface="Public Sans"/>
              </a:rPr>
              <a:t>One snapshot of training data: treat numbers as directional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5"/>
          <p:cNvSpPr/>
          <p:nvPr/>
        </p:nvSpPr>
        <p:spPr>
          <a:xfrm>
            <a:off x="812800" y="4221311"/>
            <a:ext cx="10883392" cy="41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A2522"/>
              </a:buClr>
              <a:buSzPts val="2200"/>
              <a:buFont typeface="Public Sans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5"/>
          <p:cNvSpPr/>
          <p:nvPr/>
        </p:nvSpPr>
        <p:spPr>
          <a:xfrm>
            <a:off x="812800" y="6238280"/>
            <a:ext cx="5125641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A6E66"/>
              </a:buClr>
              <a:buSzPts val="1200"/>
              <a:buFont typeface="Public Sans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