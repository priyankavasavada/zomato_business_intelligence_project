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858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083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ZOMATO BI &amp; DELIVERY ANALYTICS · FINAL READOUT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0116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6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 three orders never reaches the customer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393192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9C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two years of order data says about failures, restaurants, delivery and retention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585216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C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Priyanka Vasavada · Internmo internship ·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glance: Jan 2023 – Dec 2024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3816" y="1600200"/>
            <a:ext cx="2450592" cy="1920240"/>
          </a:xfrm>
          <a:prstGeom prst="roundRect">
            <a:avLst>
              <a:gd name="adj" fmla="val 4762"/>
            </a:avLst>
          </a:prstGeom>
          <a:solidFill>
            <a:srgbClr val="F1EAE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69848" y="18288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₹53.1L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069848" y="256032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from 13,544 delivered orders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20440" y="1600200"/>
            <a:ext cx="2450592" cy="1920240"/>
          </a:xfrm>
          <a:prstGeom prst="roundRect">
            <a:avLst>
              <a:gd name="adj" fmla="val 4762"/>
            </a:avLst>
          </a:prstGeom>
          <a:solidFill>
            <a:srgbClr val="CB20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776472" y="18288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₹27.1L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776472" y="256032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 cancelled and undelivered orders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27064" y="1600200"/>
            <a:ext cx="2450592" cy="1920240"/>
          </a:xfrm>
          <a:prstGeom prst="roundRect">
            <a:avLst>
              <a:gd name="adj" fmla="val 4762"/>
            </a:avLst>
          </a:prstGeom>
          <a:solidFill>
            <a:srgbClr val="F1EAE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83096" y="18288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33.9%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483096" y="256032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20,475 orders failed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33688" y="1600200"/>
            <a:ext cx="2450592" cy="1920240"/>
          </a:xfrm>
          <a:prstGeom prst="roundRect">
            <a:avLst>
              <a:gd name="adj" fmla="val 4762"/>
            </a:avLst>
          </a:prstGeom>
          <a:solidFill>
            <a:srgbClr val="F1EAE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89720" y="18288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256032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customers never ordered a second time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" y="4023360"/>
            <a:ext cx="10570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lever isn't growth. It's the orders the platform already gets and then loses.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data was prepared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3816" y="16002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BF8F5"/>
          </a:solidFill>
          <a:ln w="12700">
            <a:solidFill>
              <a:srgbClr val="D9CFC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50976" y="17190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raw CSVs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50976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159,077 rows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5400000">
            <a:off x="2752344" y="2103120"/>
            <a:ext cx="164592" cy="164592"/>
          </a:xfrm>
          <a:prstGeom prst="triangle">
            <a:avLst/>
          </a:prstGeom>
          <a:solidFill>
            <a:srgbClr val="CB202D"/>
          </a:solidFill>
          <a:ln/>
        </p:spPr>
      </p:sp>
      <p:sp>
        <p:nvSpPr>
          <p:cNvPr id="7" name="Shape 5"/>
          <p:cNvSpPr/>
          <p:nvPr/>
        </p:nvSpPr>
        <p:spPr>
          <a:xfrm>
            <a:off x="2999232" y="16002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BF8F5"/>
          </a:solidFill>
          <a:ln w="12700">
            <a:solidFill>
              <a:srgbClr val="D9CF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36392" y="17190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cleaning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136392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dedup, key checks, imputation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4937760" y="2103120"/>
            <a:ext cx="164592" cy="164592"/>
          </a:xfrm>
          <a:prstGeom prst="triangle">
            <a:avLst/>
          </a:prstGeom>
          <a:solidFill>
            <a:srgbClr val="CB202D"/>
          </a:solidFill>
          <a:ln/>
        </p:spPr>
      </p:sp>
      <p:sp>
        <p:nvSpPr>
          <p:cNvPr id="11" name="Shape 9"/>
          <p:cNvSpPr/>
          <p:nvPr/>
        </p:nvSpPr>
        <p:spPr>
          <a:xfrm>
            <a:off x="5184648" y="16002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BF8F5"/>
          </a:solidFill>
          <a:ln w="12700">
            <a:solidFill>
              <a:srgbClr val="D9CF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21808" y="17190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21808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 schema, 32 queries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7123176" y="2103120"/>
            <a:ext cx="164592" cy="164592"/>
          </a:xfrm>
          <a:prstGeom prst="triangle">
            <a:avLst/>
          </a:prstGeom>
          <a:solidFill>
            <a:srgbClr val="CB202D"/>
          </a:solidFill>
          <a:ln/>
        </p:spPr>
      </p:sp>
      <p:sp>
        <p:nvSpPr>
          <p:cNvPr id="15" name="Shape 13"/>
          <p:cNvSpPr/>
          <p:nvPr/>
        </p:nvSpPr>
        <p:spPr>
          <a:xfrm>
            <a:off x="7370064" y="16002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BF8F5"/>
          </a:solidFill>
          <a:ln w="12700">
            <a:solidFill>
              <a:srgbClr val="D9CF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07224" y="17190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+ models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507224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time, churn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5400000">
            <a:off x="9308592" y="2103120"/>
            <a:ext cx="164592" cy="164592"/>
          </a:xfrm>
          <a:prstGeom prst="triangle">
            <a:avLst/>
          </a:prstGeom>
          <a:solidFill>
            <a:srgbClr val="CB202D"/>
          </a:solidFill>
          <a:ln/>
        </p:spPr>
      </p:sp>
      <p:sp>
        <p:nvSpPr>
          <p:cNvPr id="19" name="Shape 17"/>
          <p:cNvSpPr/>
          <p:nvPr/>
        </p:nvSpPr>
        <p:spPr>
          <a:xfrm>
            <a:off x="9555480" y="160020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BF8F5"/>
          </a:solidFill>
          <a:ln w="12700">
            <a:solidFill>
              <a:srgbClr val="D9CF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92640" y="17190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21945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6-page dashboard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" y="34747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" y="4206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data issues fixed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379976" y="34747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0.35%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4379976" y="4206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rows dropped (562), each logged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946136" y="34747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command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7946136" y="4206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reruns everything end to end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56% of orders arrive on time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32588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of all 20,475 orders, Jan 2023 – Dec 2024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3816" y="1965960"/>
            <a:ext cx="5883061" cy="731520"/>
          </a:xfrm>
          <a:prstGeom prst="rect">
            <a:avLst/>
          </a:prstGeom>
          <a:solidFill>
            <a:srgbClr val="B9AEA5"/>
          </a:solidFill>
          <a:ln w="12700">
            <a:solidFill>
              <a:srgbClr val="FBF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96877" y="1965960"/>
            <a:ext cx="1111010" cy="731520"/>
          </a:xfrm>
          <a:prstGeom prst="rect">
            <a:avLst/>
          </a:prstGeom>
          <a:solidFill>
            <a:srgbClr val="857870"/>
          </a:solidFill>
          <a:ln w="12700">
            <a:solidFill>
              <a:srgbClr val="FBF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07887" y="1965960"/>
            <a:ext cx="2359573" cy="731520"/>
          </a:xfrm>
          <a:prstGeom prst="rect">
            <a:avLst/>
          </a:prstGeom>
          <a:solidFill>
            <a:srgbClr val="CB202D"/>
          </a:solidFill>
          <a:ln w="12700">
            <a:solidFill>
              <a:srgbClr val="FBF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7460" y="1965960"/>
            <a:ext cx="1216820" cy="731520"/>
          </a:xfrm>
          <a:prstGeom prst="rect">
            <a:avLst/>
          </a:prstGeom>
          <a:solidFill>
            <a:srgbClr val="E8858C"/>
          </a:solidFill>
          <a:ln w="12700">
            <a:solidFill>
              <a:srgbClr val="FBF8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" y="3017520"/>
            <a:ext cx="2491740" cy="73152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3816" y="3200400"/>
            <a:ext cx="2491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55.6%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" y="3703320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on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06724" y="3017520"/>
            <a:ext cx="2491740" cy="73152"/>
          </a:xfrm>
          <a:prstGeom prst="rect">
            <a:avLst/>
          </a:prstGeom>
          <a:solidFill>
            <a:srgbClr val="85787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06724" y="3200400"/>
            <a:ext cx="2491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506724" y="3703320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late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3017520"/>
            <a:ext cx="2491740" cy="73152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99632" y="3200400"/>
            <a:ext cx="2491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22.3%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199632" y="3703320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 · ₹17.9 lakh lost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92540" y="3017520"/>
            <a:ext cx="2491740" cy="73152"/>
          </a:xfrm>
          <a:prstGeom prst="rect">
            <a:avLst/>
          </a:prstGeom>
          <a:solidFill>
            <a:srgbClr val="E885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92540" y="3200400"/>
            <a:ext cx="2491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11.5%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892540" y="3703320"/>
            <a:ext cx="249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not delivered · ₹9.3 lakh lost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" y="4663440"/>
            <a:ext cx="10570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“Food Not Delivered” alone cost ₹9.3 lakh, more than any single city earns in two years.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Cancellations depend on the restaurant, not the category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64592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of cancellation rates, lowest to highest group, on a 10–30% scale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cuisine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099816" y="2340864"/>
            <a:ext cx="6986016" cy="256032"/>
          </a:xfrm>
          <a:prstGeom prst="rect">
            <a:avLst/>
          </a:prstGeom>
          <a:solidFill>
            <a:srgbClr val="F1EAE3"/>
          </a:solidFill>
          <a:ln/>
        </p:spPr>
      </p:sp>
      <p:sp>
        <p:nvSpPr>
          <p:cNvPr id="6" name="Shape 4"/>
          <p:cNvSpPr/>
          <p:nvPr/>
        </p:nvSpPr>
        <p:spPr>
          <a:xfrm>
            <a:off x="6243523" y="2340864"/>
            <a:ext cx="2060875" cy="256032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77272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19.0–24.9%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99816" y="2889504"/>
            <a:ext cx="6986016" cy="256032"/>
          </a:xfrm>
          <a:prstGeom prst="rect">
            <a:avLst/>
          </a:prstGeom>
          <a:solidFill>
            <a:srgbClr val="F1EAE3"/>
          </a:solidFill>
          <a:ln/>
        </p:spPr>
      </p:sp>
      <p:sp>
        <p:nvSpPr>
          <p:cNvPr id="10" name="Shape 8"/>
          <p:cNvSpPr/>
          <p:nvPr/>
        </p:nvSpPr>
        <p:spPr>
          <a:xfrm>
            <a:off x="6592824" y="2889504"/>
            <a:ext cx="1501993" cy="256032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177272" y="2834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20.0–24.3%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payment method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99816" y="3438144"/>
            <a:ext cx="6986016" cy="256032"/>
          </a:xfrm>
          <a:prstGeom prst="rect">
            <a:avLst/>
          </a:prstGeom>
          <a:solidFill>
            <a:srgbClr val="F1EAE3"/>
          </a:solidFill>
          <a:ln/>
        </p:spPr>
      </p:sp>
      <p:sp>
        <p:nvSpPr>
          <p:cNvPr id="14" name="Shape 12"/>
          <p:cNvSpPr/>
          <p:nvPr/>
        </p:nvSpPr>
        <p:spPr>
          <a:xfrm>
            <a:off x="6907195" y="3438144"/>
            <a:ext cx="1012972" cy="256032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177272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20.9–23.8%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restaurant band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99816" y="3986784"/>
            <a:ext cx="6986016" cy="256032"/>
          </a:xfrm>
          <a:prstGeom prst="rect">
            <a:avLst/>
          </a:prstGeom>
          <a:solidFill>
            <a:srgbClr val="F1EAE3"/>
          </a:solidFill>
          <a:ln/>
        </p:spPr>
      </p:sp>
      <p:sp>
        <p:nvSpPr>
          <p:cNvPr id="18" name="Shape 16"/>
          <p:cNvSpPr/>
          <p:nvPr/>
        </p:nvSpPr>
        <p:spPr>
          <a:xfrm>
            <a:off x="5195621" y="3986784"/>
            <a:ext cx="4366260" cy="256032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177272" y="3931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16.0–28.5%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734056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27064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720072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" y="493776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Mexican, Street Food and Mughlai cancel the most (about 25%), but the gap between a top and bottom restaurant is twice as wide as the gap between any two cuisines.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scorecard ranks all 1,200 restaurants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32588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out of 100 = 40% rating + 30% not cancelling + 30% on-time delivery, ranked within each city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920240"/>
          <a:ext cx="10570464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737360"/>
                <a:gridCol w="1737360"/>
                <a:gridCol w="1764792"/>
                <a:gridCol w="17647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Restaurants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rating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Cancelled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10 per city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22.3%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Bottom 10 per city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28.5%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24.5%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" y="411480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bottom-band restaurant is almost twice as likely to cancel and 2.5× as likely to deliver late. The list is in the dashboard and refreshes with the pipeline.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Weather, traffic and rush hour barely move delivery time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64592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in average delivery time between best and worst case, minutes (median order: 36 min)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825496" y="2286000"/>
            <a:ext cx="6858000" cy="27432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93224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level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25496" y="2788920"/>
            <a:ext cx="1028700" cy="274320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63924" y="2743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13816" y="3246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25496" y="3291840"/>
            <a:ext cx="857250" cy="274320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92474" y="3246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" y="3749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25496" y="3794760"/>
            <a:ext cx="51435" cy="274320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86659" y="3749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0.1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4434840"/>
            <a:ext cx="105704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Ludhiana (41.1 min) and Nagpur deliver about 18% of orders late, against 14% in Bengaluru. Partners are evenly matched: rating has no link to speed, and the busiest 10% handle only 20% of deliveries.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peaks at lunch and dinner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32588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placed by hour of day, all 20,475 orders · 48% land between 11 am–2 pm and 6–9 pm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2264" y="5262685"/>
            <a:ext cx="343540" cy="360875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79384" y="5678424"/>
            <a:ext cx="70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02700" y="5282835"/>
            <a:ext cx="343540" cy="340725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7" name="Shape 5"/>
          <p:cNvSpPr/>
          <p:nvPr/>
        </p:nvSpPr>
        <p:spPr>
          <a:xfrm>
            <a:off x="1743136" y="5332295"/>
            <a:ext cx="343540" cy="291265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8" name="Shape 6"/>
          <p:cNvSpPr/>
          <p:nvPr/>
        </p:nvSpPr>
        <p:spPr>
          <a:xfrm>
            <a:off x="2183572" y="5271844"/>
            <a:ext cx="343540" cy="351716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00692" y="5678424"/>
            <a:ext cx="70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24008" y="5302986"/>
            <a:ext cx="343540" cy="320574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11" name="Shape 9"/>
          <p:cNvSpPr/>
          <p:nvPr/>
        </p:nvSpPr>
        <p:spPr>
          <a:xfrm>
            <a:off x="3064444" y="5279172"/>
            <a:ext cx="343540" cy="344388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12" name="Shape 10"/>
          <p:cNvSpPr/>
          <p:nvPr/>
        </p:nvSpPr>
        <p:spPr>
          <a:xfrm>
            <a:off x="3504880" y="4947606"/>
            <a:ext cx="343540" cy="675954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22000" y="5678424"/>
            <a:ext cx="70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45316" y="4632527"/>
            <a:ext cx="343540" cy="991033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5752" y="4222192"/>
            <a:ext cx="343540" cy="1401368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16" name="Shape 14"/>
          <p:cNvSpPr/>
          <p:nvPr/>
        </p:nvSpPr>
        <p:spPr>
          <a:xfrm>
            <a:off x="4826188" y="4040839"/>
            <a:ext cx="343540" cy="1582721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43308" y="5678424"/>
            <a:ext cx="70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66624" y="3639663"/>
            <a:ext cx="343540" cy="1983897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19" name="Shape 17"/>
          <p:cNvSpPr/>
          <p:nvPr/>
        </p:nvSpPr>
        <p:spPr>
          <a:xfrm>
            <a:off x="5707060" y="3000346"/>
            <a:ext cx="343540" cy="2623214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20" name="Shape 18"/>
          <p:cNvSpPr/>
          <p:nvPr/>
        </p:nvSpPr>
        <p:spPr>
          <a:xfrm>
            <a:off x="6147496" y="2419649"/>
            <a:ext cx="343540" cy="3203911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64616" y="2127041"/>
            <a:ext cx="70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1,749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64616" y="5678424"/>
            <a:ext cx="70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7932" y="2577188"/>
            <a:ext cx="343540" cy="3046372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24" name="Shape 22"/>
          <p:cNvSpPr/>
          <p:nvPr/>
        </p:nvSpPr>
        <p:spPr>
          <a:xfrm>
            <a:off x="7028368" y="3615849"/>
            <a:ext cx="343540" cy="2007711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25" name="Shape 23"/>
          <p:cNvSpPr/>
          <p:nvPr/>
        </p:nvSpPr>
        <p:spPr>
          <a:xfrm>
            <a:off x="7468804" y="3934591"/>
            <a:ext cx="343540" cy="1688969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285924" y="5678424"/>
            <a:ext cx="70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09240" y="3974892"/>
            <a:ext cx="343540" cy="1648668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28" name="Shape 26"/>
          <p:cNvSpPr/>
          <p:nvPr/>
        </p:nvSpPr>
        <p:spPr>
          <a:xfrm>
            <a:off x="8349676" y="3681796"/>
            <a:ext cx="343540" cy="1941764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29" name="Shape 27"/>
          <p:cNvSpPr/>
          <p:nvPr/>
        </p:nvSpPr>
        <p:spPr>
          <a:xfrm>
            <a:off x="8790112" y="2923409"/>
            <a:ext cx="343540" cy="2700151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07232" y="5678424"/>
            <a:ext cx="70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6p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230548" y="2331720"/>
            <a:ext cx="343540" cy="3291840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047668" y="2039112"/>
            <a:ext cx="70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1,797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70984" y="2633976"/>
            <a:ext cx="343540" cy="2989584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11420" y="3584708"/>
            <a:ext cx="343540" cy="2038852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928540" y="5678424"/>
            <a:ext cx="709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551856" y="4616041"/>
            <a:ext cx="343540" cy="1007519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37" name="Shape 35"/>
          <p:cNvSpPr/>
          <p:nvPr/>
        </p:nvSpPr>
        <p:spPr>
          <a:xfrm>
            <a:off x="10992292" y="4949438"/>
            <a:ext cx="343540" cy="674122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38" name="Shape 36"/>
          <p:cNvSpPr/>
          <p:nvPr/>
        </p:nvSpPr>
        <p:spPr>
          <a:xfrm>
            <a:off x="813816" y="5623560"/>
            <a:ext cx="10570464" cy="0"/>
          </a:xfrm>
          <a:prstGeom prst="line">
            <a:avLst/>
          </a:prstGeom>
          <a:noFill/>
          <a:ln w="12700">
            <a:solidFill>
              <a:srgbClr val="85787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customers order once or twice, then stop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3816" y="1554480"/>
            <a:ext cx="3383280" cy="54864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" y="1737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2697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9,827 customers ordered only once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7408" y="1554480"/>
            <a:ext cx="3383280" cy="54864"/>
          </a:xfrm>
          <a:prstGeom prst="rect">
            <a:avLst/>
          </a:prstGeom>
          <a:solidFill>
            <a:srgbClr val="CB20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07408" y="1737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2697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9,488 customers placed no order in the final 60 days (churned)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01000" y="1554480"/>
            <a:ext cx="3383280" cy="54864"/>
          </a:xfrm>
          <a:prstGeom prst="rect">
            <a:avLst/>
          </a:prstGeom>
          <a:solidFill>
            <a:srgbClr val="B9AEA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01000" y="1737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2697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per customer over two years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" y="3840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doesn't lift basket size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" y="42519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order: Basic ₹394 · Gold ₹390 · Pro ₹389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08776" y="3840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Coupons don't reduce failures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08776" y="42519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of orders used one (₹5.08L discounts on delivered orders); they failed at 33.6% vs 34.0%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model beats a simple baseline yet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554480"/>
          <a:ext cx="10570464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514600"/>
                <a:gridCol w="2743200"/>
                <a:gridCol w="266090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PRD target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result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Naive baseline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 time · 6 models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≥ 0.75, RMSE ≤ 6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0.00, RMSE 14.9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 14.9 min (average)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Churn · 4 models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≥ 0.70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0.83, ROC-AUC 0.54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0.93 (everyone churns)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useful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3611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time is driven most by partner efficiency (46%), food cost, order hour and prep time. Weather and traffic get zero importance.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208776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 fall short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08776" y="3611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has no promised delivery time, kitchen wait time, partner location or cancellation reason.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recommendations, by owner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463040"/>
          <a:ext cx="10570464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6729984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30-day quality review for the bottom-10 restaurants per city; target cancellations under 20%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Restaurant Partnerships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 the root cause of “Food Not Delivered” (11.5% of orders, ₹9.3L)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 Operations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extra partners at 12–1 pm and 7–8 pm in Ludhiana and Nagpur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 Operations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Second-order offer within 14 days of a first order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Marketing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win-back at the 2,108 At Risk and Needs Attention customers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Marketing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what Gold and Pro give members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5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Marketing, Finance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B2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146304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01168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order failures first, starting with 250 restaurants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402336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B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cost ₹27.1 lakh in two years. The bottom-band list already exists and refreshes every pipeline run.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A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548640"/>
            <a:ext cx="1057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and limitations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2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214884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cancellation reasons and promised delivery time to the feed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 both models on the new fields against the same baselines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Rescore restaurants monthly and track the bottom band after review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08776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in mind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208776" y="214884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“Late” comes from order status, not a promised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is missing for 37% of delivered orders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C5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snapshot of training data: treat numbers as directional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BI Stakeholder Readout</dc:title>
  <dc:subject>PptxGenJS Presentation</dc:subject>
  <dc:creator>Priyanka Vasavada</dc:creator>
  <cp:lastModifiedBy>Priyanka Vasavada</cp:lastModifiedBy>
  <cp:revision>1</cp:revision>
  <dcterms:created xsi:type="dcterms:W3CDTF">2026-10-28T13:35:44Z</dcterms:created>
  <dcterms:modified xsi:type="dcterms:W3CDTF">2026-10-28T13:35:44Z</dcterms:modified>
</cp:coreProperties>
</file>